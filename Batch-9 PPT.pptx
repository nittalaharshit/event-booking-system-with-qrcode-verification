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Open Sauce Bold" charset="1" panose="00000800000000000000"/>
      <p:regular r:id="rId19"/>
    </p:embeddedFont>
    <p:embeddedFont>
      <p:font typeface="Archivo Black" charset="1" panose="020B0A03020202020B04"/>
      <p:regular r:id="rId20"/>
    </p:embeddedFont>
    <p:embeddedFont>
      <p:font typeface="Nunito Bold" charset="1" panose="00000000000000000000"/>
      <p:regular r:id="rId21"/>
    </p:embeddedFont>
    <p:embeddedFont>
      <p:font typeface="Open Sauce" charset="1" panose="00000500000000000000"/>
      <p:regular r:id="rId22"/>
    </p:embeddedFont>
    <p:embeddedFont>
      <p:font typeface="HK Grotesk Bold" charset="1" panose="00000800000000000000"/>
      <p:regular r:id="rId23"/>
    </p:embeddedFont>
    <p:embeddedFont>
      <p:font typeface="HK Grotesk" charset="1" panose="00000500000000000000"/>
      <p:regular r:id="rId24"/>
    </p:embeddedFont>
    <p:embeddedFont>
      <p:font typeface="HK Grotesk Italics" charset="1" panose="000005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7.png" Type="http://schemas.openxmlformats.org/officeDocument/2006/relationships/image"/><Relationship Id="rId4" Target="../media/image8.jpeg" Type="http://schemas.openxmlformats.org/officeDocument/2006/relationships/image"/><Relationship Id="rId5"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900922" y="1085850"/>
            <a:ext cx="16486155" cy="2014696"/>
          </a:xfrm>
          <a:prstGeom prst="rect">
            <a:avLst/>
          </a:prstGeom>
        </p:spPr>
        <p:txBody>
          <a:bodyPr anchor="t" rtlCol="false" tIns="0" lIns="0" bIns="0" rIns="0">
            <a:spAutoFit/>
          </a:bodyPr>
          <a:lstStyle/>
          <a:p>
            <a:pPr algn="ctr">
              <a:lnSpc>
                <a:spcPts val="7892"/>
              </a:lnSpc>
            </a:pPr>
            <a:r>
              <a:rPr lang="en-US" b="true" sz="7046" spc="183">
                <a:solidFill>
                  <a:srgbClr val="331B0D"/>
                </a:solidFill>
                <a:latin typeface="Open Sauce Bold"/>
                <a:ea typeface="Open Sauce Bold"/>
                <a:cs typeface="Open Sauce Bold"/>
                <a:sym typeface="Open Sauce Bold"/>
              </a:rPr>
              <a:t>EVENT TICKET BOOKING WITH QR CODE VALIDATION</a:t>
            </a:r>
          </a:p>
        </p:txBody>
      </p:sp>
      <p:sp>
        <p:nvSpPr>
          <p:cNvPr name="TextBox 4" id="4"/>
          <p:cNvSpPr txBox="true"/>
          <p:nvPr/>
        </p:nvSpPr>
        <p:spPr>
          <a:xfrm rot="0">
            <a:off x="2602010" y="3422951"/>
            <a:ext cx="7173500" cy="1004891"/>
          </a:xfrm>
          <a:prstGeom prst="rect">
            <a:avLst/>
          </a:prstGeom>
        </p:spPr>
        <p:txBody>
          <a:bodyPr anchor="t" rtlCol="false" tIns="0" lIns="0" bIns="0" rIns="0">
            <a:spAutoFit/>
          </a:bodyPr>
          <a:lstStyle/>
          <a:p>
            <a:pPr algn="just">
              <a:lnSpc>
                <a:spcPts val="3362"/>
              </a:lnSpc>
              <a:spcBef>
                <a:spcPct val="0"/>
              </a:spcBef>
            </a:pPr>
            <a:r>
              <a:rPr lang="en-US" b="true" sz="3362" spc="336">
                <a:solidFill>
                  <a:srgbClr val="2B2B2B"/>
                </a:solidFill>
                <a:latin typeface="Open Sauce Bold"/>
                <a:ea typeface="Open Sauce Bold"/>
                <a:cs typeface="Open Sauce Bold"/>
                <a:sym typeface="Open Sauce Bold"/>
              </a:rPr>
              <a:t>TEAM MEMBERS</a:t>
            </a:r>
          </a:p>
          <a:p>
            <a:pPr algn="just">
              <a:lnSpc>
                <a:spcPts val="2262"/>
              </a:lnSpc>
              <a:spcBef>
                <a:spcPct val="0"/>
              </a:spcBef>
            </a:pPr>
          </a:p>
          <a:p>
            <a:pPr algn="just">
              <a:lnSpc>
                <a:spcPts val="2262"/>
              </a:lnSpc>
              <a:spcBef>
                <a:spcPct val="0"/>
              </a:spcBef>
            </a:pPr>
          </a:p>
        </p:txBody>
      </p:sp>
      <p:sp>
        <p:nvSpPr>
          <p:cNvPr name="TextBox 5" id="5"/>
          <p:cNvSpPr txBox="true"/>
          <p:nvPr/>
        </p:nvSpPr>
        <p:spPr>
          <a:xfrm rot="0">
            <a:off x="2886050" y="3156090"/>
            <a:ext cx="8933706" cy="3861039"/>
          </a:xfrm>
          <a:prstGeom prst="rect">
            <a:avLst/>
          </a:prstGeom>
        </p:spPr>
        <p:txBody>
          <a:bodyPr anchor="t" rtlCol="false" tIns="0" lIns="0" bIns="0" rIns="0">
            <a:spAutoFit/>
          </a:bodyPr>
          <a:lstStyle/>
          <a:p>
            <a:pPr algn="just">
              <a:lnSpc>
                <a:spcPts val="5112"/>
              </a:lnSpc>
            </a:pPr>
          </a:p>
          <a:p>
            <a:pPr algn="just">
              <a:lnSpc>
                <a:spcPts val="4344"/>
              </a:lnSpc>
            </a:pPr>
            <a:r>
              <a:rPr lang="en-US" b="true" sz="2262" spc="226">
                <a:solidFill>
                  <a:srgbClr val="5F0F15"/>
                </a:solidFill>
                <a:latin typeface="Open Sauce Bold"/>
                <a:ea typeface="Open Sauce Bold"/>
                <a:cs typeface="Open Sauce Bold"/>
                <a:sym typeface="Open Sauce Bold"/>
              </a:rPr>
              <a:t>👨‍💻</a:t>
            </a:r>
            <a:r>
              <a:rPr lang="en-US" b="true" sz="2262" spc="226">
                <a:solidFill>
                  <a:srgbClr val="5F0F15"/>
                </a:solidFill>
                <a:latin typeface="Open Sauce Bold"/>
                <a:ea typeface="Open Sauce Bold"/>
                <a:cs typeface="Open Sauce Bold"/>
                <a:sym typeface="Open Sauce Bold"/>
              </a:rPr>
              <a:t>S.RAVI                                      22221A05A1</a:t>
            </a:r>
          </a:p>
          <a:p>
            <a:pPr algn="just">
              <a:lnSpc>
                <a:spcPts val="4344"/>
              </a:lnSpc>
            </a:pPr>
            <a:r>
              <a:rPr lang="en-US" b="true" sz="2262" spc="226">
                <a:solidFill>
                  <a:srgbClr val="5F0F15"/>
                </a:solidFill>
                <a:latin typeface="Open Sauce Bold"/>
                <a:ea typeface="Open Sauce Bold"/>
                <a:cs typeface="Open Sauce Bold"/>
                <a:sym typeface="Open Sauce Bold"/>
              </a:rPr>
              <a:t>👨‍💻N.H.S.SRIRAM                          22221A0580</a:t>
            </a:r>
          </a:p>
          <a:p>
            <a:pPr algn="just">
              <a:lnSpc>
                <a:spcPts val="4344"/>
              </a:lnSpc>
            </a:pPr>
            <a:r>
              <a:rPr lang="en-US" b="true" sz="2262" spc="226">
                <a:solidFill>
                  <a:srgbClr val="5F0F15"/>
                </a:solidFill>
                <a:latin typeface="Open Sauce Bold"/>
                <a:ea typeface="Open Sauce Bold"/>
                <a:cs typeface="Open Sauce Bold"/>
                <a:sym typeface="Open Sauce Bold"/>
              </a:rPr>
              <a:t>👨‍💻S.S.S.PRAVEEN                        22221A05B0</a:t>
            </a:r>
          </a:p>
          <a:p>
            <a:pPr algn="just">
              <a:lnSpc>
                <a:spcPts val="4344"/>
              </a:lnSpc>
            </a:pPr>
            <a:r>
              <a:rPr lang="en-US" b="true" sz="2262" spc="226">
                <a:solidFill>
                  <a:srgbClr val="5F0F15"/>
                </a:solidFill>
                <a:latin typeface="Open Sauce Bold"/>
                <a:ea typeface="Open Sauce Bold"/>
                <a:cs typeface="Open Sauce Bold"/>
                <a:sym typeface="Open Sauce Bold"/>
              </a:rPr>
              <a:t>👨‍💻P.VEERANNA                            22221A0587</a:t>
            </a:r>
          </a:p>
          <a:p>
            <a:pPr algn="just">
              <a:lnSpc>
                <a:spcPts val="4344"/>
              </a:lnSpc>
            </a:pPr>
            <a:r>
              <a:rPr lang="en-US" b="true" sz="2262" spc="226">
                <a:solidFill>
                  <a:srgbClr val="5F0F15"/>
                </a:solidFill>
                <a:latin typeface="Open Sauce Bold"/>
                <a:ea typeface="Open Sauce Bold"/>
                <a:cs typeface="Open Sauce Bold"/>
                <a:sym typeface="Open Sauce Bold"/>
              </a:rPr>
              <a:t>👨‍💻CH.S.KOPPESWARAO               23225A0502</a:t>
            </a:r>
          </a:p>
          <a:p>
            <a:pPr algn="just">
              <a:lnSpc>
                <a:spcPts val="4344"/>
              </a:lnSpc>
            </a:pPr>
          </a:p>
        </p:txBody>
      </p:sp>
      <p:sp>
        <p:nvSpPr>
          <p:cNvPr name="TextBox 6" id="6"/>
          <p:cNvSpPr txBox="true"/>
          <p:nvPr/>
        </p:nvSpPr>
        <p:spPr>
          <a:xfrm rot="0">
            <a:off x="12079135" y="6958052"/>
            <a:ext cx="7173500" cy="295597"/>
          </a:xfrm>
          <a:prstGeom prst="rect">
            <a:avLst/>
          </a:prstGeom>
        </p:spPr>
        <p:txBody>
          <a:bodyPr anchor="t" rtlCol="false" tIns="0" lIns="0" bIns="0" rIns="0">
            <a:spAutoFit/>
          </a:bodyPr>
          <a:lstStyle/>
          <a:p>
            <a:pPr algn="just">
              <a:lnSpc>
                <a:spcPts val="2262"/>
              </a:lnSpc>
              <a:spcBef>
                <a:spcPct val="0"/>
              </a:spcBef>
            </a:pPr>
            <a:r>
              <a:rPr lang="en-US" b="true" sz="2262" spc="226">
                <a:solidFill>
                  <a:srgbClr val="2B2B2B"/>
                </a:solidFill>
                <a:latin typeface="Open Sauce Bold"/>
                <a:ea typeface="Open Sauce Bold"/>
                <a:cs typeface="Open Sauce Bold"/>
                <a:sym typeface="Open Sauce Bold"/>
              </a:rPr>
              <a:t>project guide</a:t>
            </a:r>
          </a:p>
        </p:txBody>
      </p:sp>
      <p:sp>
        <p:nvSpPr>
          <p:cNvPr name="TextBox 7" id="7"/>
          <p:cNvSpPr txBox="true"/>
          <p:nvPr/>
        </p:nvSpPr>
        <p:spPr>
          <a:xfrm rot="0">
            <a:off x="11819755" y="7263174"/>
            <a:ext cx="3510390" cy="274156"/>
          </a:xfrm>
          <a:prstGeom prst="rect">
            <a:avLst/>
          </a:prstGeom>
        </p:spPr>
        <p:txBody>
          <a:bodyPr anchor="t" rtlCol="false" tIns="0" lIns="0" bIns="0" rIns="0">
            <a:spAutoFit/>
          </a:bodyPr>
          <a:lstStyle/>
          <a:p>
            <a:pPr algn="l">
              <a:lnSpc>
                <a:spcPts val="2158"/>
              </a:lnSpc>
            </a:pPr>
            <a:r>
              <a:rPr lang="en-US" sz="1910">
                <a:solidFill>
                  <a:srgbClr val="5F0F15"/>
                </a:solidFill>
                <a:latin typeface="Archivo Black"/>
                <a:ea typeface="Archivo Black"/>
                <a:cs typeface="Archivo Black"/>
                <a:sym typeface="Archivo Black"/>
              </a:rPr>
              <a:t>Mr. T.V.L.SRINIVASA RAO</a:t>
            </a:r>
          </a:p>
        </p:txBody>
      </p:sp>
      <p:sp>
        <p:nvSpPr>
          <p:cNvPr name="TextBox 8" id="8"/>
          <p:cNvSpPr txBox="true"/>
          <p:nvPr/>
        </p:nvSpPr>
        <p:spPr>
          <a:xfrm rot="0">
            <a:off x="13043174" y="7459428"/>
            <a:ext cx="3789395" cy="265103"/>
          </a:xfrm>
          <a:prstGeom prst="rect">
            <a:avLst/>
          </a:prstGeom>
        </p:spPr>
        <p:txBody>
          <a:bodyPr anchor="t" rtlCol="false" tIns="0" lIns="0" bIns="0" rIns="0">
            <a:spAutoFit/>
          </a:bodyPr>
          <a:lstStyle/>
          <a:p>
            <a:pPr algn="ctr">
              <a:lnSpc>
                <a:spcPts val="2188"/>
              </a:lnSpc>
              <a:spcBef>
                <a:spcPct val="0"/>
              </a:spcBef>
            </a:pPr>
            <a:r>
              <a:rPr lang="en-US" b="true" sz="1562">
                <a:solidFill>
                  <a:srgbClr val="5F0F15"/>
                </a:solidFill>
                <a:latin typeface="Nunito Bold"/>
                <a:ea typeface="Nunito Bold"/>
                <a:cs typeface="Nunito Bold"/>
                <a:sym typeface="Nunito Bold"/>
              </a:rPr>
              <a:t>M.Tech.</a:t>
            </a:r>
          </a:p>
        </p:txBody>
      </p:sp>
      <p:sp>
        <p:nvSpPr>
          <p:cNvPr name="TextBox 9" id="9"/>
          <p:cNvSpPr txBox="true"/>
          <p:nvPr/>
        </p:nvSpPr>
        <p:spPr>
          <a:xfrm rot="0">
            <a:off x="6510596" y="9565262"/>
            <a:ext cx="7173500" cy="295597"/>
          </a:xfrm>
          <a:prstGeom prst="rect">
            <a:avLst/>
          </a:prstGeom>
        </p:spPr>
        <p:txBody>
          <a:bodyPr anchor="t" rtlCol="false" tIns="0" lIns="0" bIns="0" rIns="0">
            <a:spAutoFit/>
          </a:bodyPr>
          <a:lstStyle/>
          <a:p>
            <a:pPr algn="just">
              <a:lnSpc>
                <a:spcPts val="2262"/>
              </a:lnSpc>
              <a:spcBef>
                <a:spcPct val="0"/>
              </a:spcBef>
            </a:pPr>
            <a:r>
              <a:rPr lang="en-US" b="true" sz="2262" spc="226">
                <a:solidFill>
                  <a:srgbClr val="2B2B2B"/>
                </a:solidFill>
                <a:latin typeface="Open Sauce Bold"/>
                <a:ea typeface="Open Sauce Bold"/>
                <a:cs typeface="Open Sauce Bold"/>
                <a:sym typeface="Open Sauce Bold"/>
              </a:rPr>
              <a:t>Academic Year: 2025–2026</a:t>
            </a:r>
          </a:p>
        </p:txBody>
      </p:sp>
      <p:sp>
        <p:nvSpPr>
          <p:cNvPr name="TextBox 10" id="10"/>
          <p:cNvSpPr txBox="true"/>
          <p:nvPr/>
        </p:nvSpPr>
        <p:spPr>
          <a:xfrm rot="0">
            <a:off x="2424825" y="6958052"/>
            <a:ext cx="4407240" cy="295597"/>
          </a:xfrm>
          <a:prstGeom prst="rect">
            <a:avLst/>
          </a:prstGeom>
        </p:spPr>
        <p:txBody>
          <a:bodyPr anchor="t" rtlCol="false" tIns="0" lIns="0" bIns="0" rIns="0">
            <a:spAutoFit/>
          </a:bodyPr>
          <a:lstStyle/>
          <a:p>
            <a:pPr algn="just">
              <a:lnSpc>
                <a:spcPts val="2262"/>
              </a:lnSpc>
              <a:spcBef>
                <a:spcPct val="0"/>
              </a:spcBef>
            </a:pPr>
            <a:r>
              <a:rPr lang="en-US" b="true" sz="2262" spc="226">
                <a:solidFill>
                  <a:srgbClr val="2B2B2B"/>
                </a:solidFill>
                <a:latin typeface="Open Sauce Bold"/>
                <a:ea typeface="Open Sauce Bold"/>
                <a:cs typeface="Open Sauce Bold"/>
                <a:sym typeface="Open Sauce Bold"/>
              </a:rPr>
              <a:t>PROJECT SUPERVISOR</a:t>
            </a:r>
          </a:p>
        </p:txBody>
      </p:sp>
      <p:sp>
        <p:nvSpPr>
          <p:cNvPr name="TextBox 11" id="11"/>
          <p:cNvSpPr txBox="true"/>
          <p:nvPr/>
        </p:nvSpPr>
        <p:spPr>
          <a:xfrm rot="0">
            <a:off x="3137441" y="7263174"/>
            <a:ext cx="3510390" cy="281488"/>
          </a:xfrm>
          <a:prstGeom prst="rect">
            <a:avLst/>
          </a:prstGeom>
        </p:spPr>
        <p:txBody>
          <a:bodyPr anchor="t" rtlCol="false" tIns="0" lIns="0" bIns="0" rIns="0">
            <a:spAutoFit/>
          </a:bodyPr>
          <a:lstStyle/>
          <a:p>
            <a:pPr algn="l">
              <a:lnSpc>
                <a:spcPts val="2158"/>
              </a:lnSpc>
            </a:pPr>
            <a:r>
              <a:rPr lang="en-US" sz="1910">
                <a:solidFill>
                  <a:srgbClr val="5F0F15"/>
                </a:solidFill>
                <a:latin typeface="Archivo Black"/>
                <a:ea typeface="Archivo Black"/>
                <a:cs typeface="Archivo Black"/>
                <a:sym typeface="Archivo Black"/>
              </a:rPr>
              <a:t>Mr. M.V.K.SUBASH</a:t>
            </a:r>
          </a:p>
        </p:txBody>
      </p:sp>
      <p:sp>
        <p:nvSpPr>
          <p:cNvPr name="TextBox 12" id="12"/>
          <p:cNvSpPr txBox="true"/>
          <p:nvPr/>
        </p:nvSpPr>
        <p:spPr>
          <a:xfrm rot="0">
            <a:off x="4269179" y="7459428"/>
            <a:ext cx="1395183" cy="265103"/>
          </a:xfrm>
          <a:prstGeom prst="rect">
            <a:avLst/>
          </a:prstGeom>
        </p:spPr>
        <p:txBody>
          <a:bodyPr anchor="t" rtlCol="false" tIns="0" lIns="0" bIns="0" rIns="0">
            <a:spAutoFit/>
          </a:bodyPr>
          <a:lstStyle/>
          <a:p>
            <a:pPr algn="ctr">
              <a:lnSpc>
                <a:spcPts val="2188"/>
              </a:lnSpc>
              <a:spcBef>
                <a:spcPct val="0"/>
              </a:spcBef>
            </a:pPr>
            <a:r>
              <a:rPr lang="en-US" b="true" sz="1562">
                <a:solidFill>
                  <a:srgbClr val="5F0F15"/>
                </a:solidFill>
                <a:latin typeface="Nunito Bold"/>
                <a:ea typeface="Nunito Bold"/>
                <a:cs typeface="Nunito Bold"/>
                <a:sym typeface="Nunito Bold"/>
              </a:rPr>
              <a:t>M.Tech.,(Ph.D)</a:t>
            </a:r>
          </a:p>
        </p:txBody>
      </p:sp>
      <p:sp>
        <p:nvSpPr>
          <p:cNvPr name="TextBox 13" id="13"/>
          <p:cNvSpPr txBox="true"/>
          <p:nvPr/>
        </p:nvSpPr>
        <p:spPr>
          <a:xfrm rot="0">
            <a:off x="6171471" y="8463898"/>
            <a:ext cx="7173500" cy="295597"/>
          </a:xfrm>
          <a:prstGeom prst="rect">
            <a:avLst/>
          </a:prstGeom>
        </p:spPr>
        <p:txBody>
          <a:bodyPr anchor="t" rtlCol="false" tIns="0" lIns="0" bIns="0" rIns="0">
            <a:spAutoFit/>
          </a:bodyPr>
          <a:lstStyle/>
          <a:p>
            <a:pPr algn="just">
              <a:lnSpc>
                <a:spcPts val="2262"/>
              </a:lnSpc>
              <a:spcBef>
                <a:spcPct val="0"/>
              </a:spcBef>
            </a:pPr>
            <a:r>
              <a:rPr lang="en-US" b="true" sz="2262" spc="226">
                <a:solidFill>
                  <a:srgbClr val="2B2B2B"/>
                </a:solidFill>
                <a:latin typeface="Open Sauce Bold"/>
                <a:ea typeface="Open Sauce Bold"/>
                <a:cs typeface="Open Sauce Bold"/>
                <a:sym typeface="Open Sauce Bold"/>
              </a:rPr>
              <a:t>Head of the department</a:t>
            </a:r>
          </a:p>
        </p:txBody>
      </p:sp>
      <p:sp>
        <p:nvSpPr>
          <p:cNvPr name="TextBox 14" id="14"/>
          <p:cNvSpPr txBox="true"/>
          <p:nvPr/>
        </p:nvSpPr>
        <p:spPr>
          <a:xfrm rot="0">
            <a:off x="6832065" y="8740284"/>
            <a:ext cx="3510390" cy="281488"/>
          </a:xfrm>
          <a:prstGeom prst="rect">
            <a:avLst/>
          </a:prstGeom>
        </p:spPr>
        <p:txBody>
          <a:bodyPr anchor="t" rtlCol="false" tIns="0" lIns="0" bIns="0" rIns="0">
            <a:spAutoFit/>
          </a:bodyPr>
          <a:lstStyle/>
          <a:p>
            <a:pPr algn="l">
              <a:lnSpc>
                <a:spcPts val="2158"/>
              </a:lnSpc>
            </a:pPr>
            <a:r>
              <a:rPr lang="en-US" sz="1910">
                <a:solidFill>
                  <a:srgbClr val="5F0F15"/>
                </a:solidFill>
                <a:latin typeface="Archivo Black"/>
                <a:ea typeface="Archivo Black"/>
                <a:cs typeface="Archivo Black"/>
                <a:sym typeface="Archivo Black"/>
              </a:rPr>
              <a:t>Dr.MEERASHARIF SHEIK</a:t>
            </a:r>
          </a:p>
        </p:txBody>
      </p:sp>
      <p:sp>
        <p:nvSpPr>
          <p:cNvPr name="TextBox 15" id="15"/>
          <p:cNvSpPr txBox="true"/>
          <p:nvPr/>
        </p:nvSpPr>
        <p:spPr>
          <a:xfrm rot="0">
            <a:off x="7650832" y="8993197"/>
            <a:ext cx="3789395" cy="265103"/>
          </a:xfrm>
          <a:prstGeom prst="rect">
            <a:avLst/>
          </a:prstGeom>
        </p:spPr>
        <p:txBody>
          <a:bodyPr anchor="t" rtlCol="false" tIns="0" lIns="0" bIns="0" rIns="0">
            <a:spAutoFit/>
          </a:bodyPr>
          <a:lstStyle/>
          <a:p>
            <a:pPr algn="ctr">
              <a:lnSpc>
                <a:spcPts val="2188"/>
              </a:lnSpc>
              <a:spcBef>
                <a:spcPct val="0"/>
              </a:spcBef>
            </a:pPr>
            <a:r>
              <a:rPr lang="en-US" b="true" sz="1562">
                <a:solidFill>
                  <a:srgbClr val="5F0F15"/>
                </a:solidFill>
                <a:latin typeface="Nunito Bold"/>
                <a:ea typeface="Nunito Bold"/>
                <a:cs typeface="Nunito Bold"/>
                <a:sym typeface="Nunito Bold"/>
              </a:rPr>
              <a:t>M.Tech.,Ph.D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8281167" y="3143157"/>
            <a:ext cx="1483618" cy="1537428"/>
          </a:xfrm>
          <a:custGeom>
            <a:avLst/>
            <a:gdLst/>
            <a:ahLst/>
            <a:cxnLst/>
            <a:rect r="r" b="b" t="t" l="l"/>
            <a:pathLst>
              <a:path h="1537428" w="1483618">
                <a:moveTo>
                  <a:pt x="0" y="0"/>
                </a:moveTo>
                <a:lnTo>
                  <a:pt x="1483618" y="0"/>
                </a:lnTo>
                <a:lnTo>
                  <a:pt x="1483618" y="1537428"/>
                </a:lnTo>
                <a:lnTo>
                  <a:pt x="0" y="1537428"/>
                </a:lnTo>
                <a:lnTo>
                  <a:pt x="0" y="0"/>
                </a:lnTo>
                <a:close/>
              </a:path>
            </a:pathLst>
          </a:custGeom>
          <a:blipFill>
            <a:blip r:embed="rId2"/>
            <a:stretch>
              <a:fillRect l="-1813" t="0" r="-1813" b="0"/>
            </a:stretch>
          </a:blipFill>
        </p:spPr>
      </p:sp>
      <p:sp>
        <p:nvSpPr>
          <p:cNvPr name="Freeform 3" id="3"/>
          <p:cNvSpPr/>
          <p:nvPr/>
        </p:nvSpPr>
        <p:spPr>
          <a:xfrm flipH="false" flipV="false" rot="0">
            <a:off x="14504709" y="2921519"/>
            <a:ext cx="811369" cy="1759066"/>
          </a:xfrm>
          <a:custGeom>
            <a:avLst/>
            <a:gdLst/>
            <a:ahLst/>
            <a:cxnLst/>
            <a:rect r="r" b="b" t="t" l="l"/>
            <a:pathLst>
              <a:path h="1759066" w="811369">
                <a:moveTo>
                  <a:pt x="0" y="0"/>
                </a:moveTo>
                <a:lnTo>
                  <a:pt x="811369" y="0"/>
                </a:lnTo>
                <a:lnTo>
                  <a:pt x="811369" y="1759066"/>
                </a:lnTo>
                <a:lnTo>
                  <a:pt x="0" y="1759066"/>
                </a:lnTo>
                <a:lnTo>
                  <a:pt x="0" y="0"/>
                </a:lnTo>
                <a:close/>
              </a:path>
            </a:pathLst>
          </a:custGeom>
          <a:blipFill>
            <a:blip r:embed="rId3"/>
            <a:stretch>
              <a:fillRect l="0" t="0" r="0" b="0"/>
            </a:stretch>
          </a:blipFill>
        </p:spPr>
      </p:sp>
      <p:sp>
        <p:nvSpPr>
          <p:cNvPr name="TextBox 4" id="4"/>
          <p:cNvSpPr txBox="true"/>
          <p:nvPr/>
        </p:nvSpPr>
        <p:spPr>
          <a:xfrm rot="0">
            <a:off x="1028700" y="1123950"/>
            <a:ext cx="8115300"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Introduction</a:t>
            </a:r>
          </a:p>
        </p:txBody>
      </p:sp>
      <p:sp>
        <p:nvSpPr>
          <p:cNvPr name="TextBox 5" id="5"/>
          <p:cNvSpPr txBox="true"/>
          <p:nvPr/>
        </p:nvSpPr>
        <p:spPr>
          <a:xfrm rot="0">
            <a:off x="1028700" y="4890135"/>
            <a:ext cx="4057650" cy="8248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On</a:t>
            </a:r>
            <a:r>
              <a:rPr lang="en-US" sz="2400">
                <a:solidFill>
                  <a:srgbClr val="8C7753"/>
                </a:solidFill>
                <a:latin typeface="Open Sauce"/>
                <a:ea typeface="Open Sauce"/>
                <a:cs typeface="Open Sauce"/>
                <a:sym typeface="Open Sauce"/>
              </a:rPr>
              <a:t>line event booking platform</a:t>
            </a:r>
          </a:p>
        </p:txBody>
      </p:sp>
      <p:sp>
        <p:nvSpPr>
          <p:cNvPr name="TextBox 6" id="6"/>
          <p:cNvSpPr txBox="true"/>
          <p:nvPr/>
        </p:nvSpPr>
        <p:spPr>
          <a:xfrm rot="0">
            <a:off x="1028700" y="5924550"/>
            <a:ext cx="4310172" cy="333756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The </a:t>
            </a:r>
            <a:r>
              <a:rPr lang="en-US" sz="2100">
                <a:solidFill>
                  <a:srgbClr val="331B0D"/>
                </a:solidFill>
                <a:latin typeface="Open Sauce"/>
                <a:ea typeface="Open Sauce"/>
                <a:cs typeface="Open Sauce"/>
                <a:sym typeface="Open Sauce"/>
              </a:rPr>
              <a:t>online event booking platform allows users to browse available events, check ticket availability, and book tickets digitally. It eliminates the need for physical counters and provides convenient, anytime access to event information and booking services.</a:t>
            </a:r>
          </a:p>
        </p:txBody>
      </p:sp>
      <p:sp>
        <p:nvSpPr>
          <p:cNvPr name="TextBox 7" id="7"/>
          <p:cNvSpPr txBox="true"/>
          <p:nvPr/>
        </p:nvSpPr>
        <p:spPr>
          <a:xfrm rot="0">
            <a:off x="6867890" y="4920615"/>
            <a:ext cx="2937051" cy="8248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Easy Ticket Booking</a:t>
            </a:r>
          </a:p>
        </p:txBody>
      </p:sp>
      <p:sp>
        <p:nvSpPr>
          <p:cNvPr name="TextBox 8" id="8"/>
          <p:cNvSpPr txBox="true"/>
          <p:nvPr/>
        </p:nvSpPr>
        <p:spPr>
          <a:xfrm rot="0">
            <a:off x="6867890" y="5924550"/>
            <a:ext cx="4310172" cy="296608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Easy tick</a:t>
            </a:r>
            <a:r>
              <a:rPr lang="en-US" sz="2100">
                <a:solidFill>
                  <a:srgbClr val="331B0D"/>
                </a:solidFill>
                <a:latin typeface="Open Sauce"/>
                <a:ea typeface="Open Sauce"/>
                <a:cs typeface="Open Sauce"/>
                <a:sym typeface="Open Sauce"/>
              </a:rPr>
              <a:t>et booking enables users to select events, choose tickets, and complete bookings through a simple interface. It reduces complexity, saves time, avoids confusion, and makes the entire booking process smooth and user friendly.</a:t>
            </a:r>
          </a:p>
        </p:txBody>
      </p:sp>
      <p:sp>
        <p:nvSpPr>
          <p:cNvPr name="TextBox 9" id="9"/>
          <p:cNvSpPr txBox="true"/>
          <p:nvPr/>
        </p:nvSpPr>
        <p:spPr>
          <a:xfrm rot="0">
            <a:off x="12949128" y="4890135"/>
            <a:ext cx="3922531" cy="8248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Reduces Manual Wo</a:t>
            </a:r>
            <a:r>
              <a:rPr lang="en-US" sz="2400">
                <a:solidFill>
                  <a:srgbClr val="8C7753"/>
                </a:solidFill>
                <a:latin typeface="Open Sauce"/>
                <a:ea typeface="Open Sauce"/>
                <a:cs typeface="Open Sauce"/>
                <a:sym typeface="Open Sauce"/>
              </a:rPr>
              <a:t>rk  &amp; </a:t>
            </a:r>
          </a:p>
          <a:p>
            <a:pPr algn="l">
              <a:lnSpc>
                <a:spcPts val="3359"/>
              </a:lnSpc>
              <a:spcBef>
                <a:spcPct val="0"/>
              </a:spcBef>
            </a:pPr>
            <a:r>
              <a:rPr lang="en-US" sz="2400">
                <a:solidFill>
                  <a:srgbClr val="8C7753"/>
                </a:solidFill>
                <a:latin typeface="Open Sauce"/>
                <a:ea typeface="Open Sauce"/>
                <a:cs typeface="Open Sauce"/>
                <a:sym typeface="Open Sauce"/>
              </a:rPr>
              <a:t>Quick Confirmation</a:t>
            </a:r>
          </a:p>
        </p:txBody>
      </p:sp>
      <p:sp>
        <p:nvSpPr>
          <p:cNvPr name="TextBox 10" id="10"/>
          <p:cNvSpPr txBox="true"/>
          <p:nvPr/>
        </p:nvSpPr>
        <p:spPr>
          <a:xfrm rot="0">
            <a:off x="12949128" y="5924550"/>
            <a:ext cx="4310172" cy="296608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The system reduces manual w</a:t>
            </a:r>
            <a:r>
              <a:rPr lang="en-US" sz="2100">
                <a:solidFill>
                  <a:srgbClr val="331B0D"/>
                </a:solidFill>
                <a:latin typeface="Open Sauce"/>
                <a:ea typeface="Open Sauce"/>
                <a:cs typeface="Open Sauce"/>
                <a:sym typeface="Open Sauce"/>
              </a:rPr>
              <a:t>ork by automating ticket booking, payment processing, and record maintenance.</a:t>
            </a:r>
          </a:p>
          <a:p>
            <a:pPr algn="l">
              <a:lnSpc>
                <a:spcPts val="2940"/>
              </a:lnSpc>
              <a:spcBef>
                <a:spcPct val="0"/>
              </a:spcBef>
            </a:pPr>
            <a:r>
              <a:rPr lang="en-US" sz="2100">
                <a:solidFill>
                  <a:srgbClr val="331B0D"/>
                </a:solidFill>
                <a:latin typeface="Open Sauce"/>
                <a:ea typeface="Open Sauce"/>
                <a:cs typeface="Open Sauce"/>
                <a:sym typeface="Open Sauce"/>
              </a:rPr>
              <a:t>Quick confirmation provides users with instant booking status after successful payment. It delivers immediate ticket details.</a:t>
            </a:r>
          </a:p>
        </p:txBody>
      </p:sp>
      <p:sp>
        <p:nvSpPr>
          <p:cNvPr name="TextBox 11" id="11"/>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a:t>
            </a:r>
          </a:p>
        </p:txBody>
      </p:sp>
      <p:sp>
        <p:nvSpPr>
          <p:cNvPr name="TextBox 12" id="12"/>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batch 09</a:t>
            </a:r>
          </a:p>
        </p:txBody>
      </p:sp>
      <p:sp>
        <p:nvSpPr>
          <p:cNvPr name="Freeform 13" id="13"/>
          <p:cNvSpPr/>
          <p:nvPr/>
        </p:nvSpPr>
        <p:spPr>
          <a:xfrm flipH="false" flipV="false" rot="0">
            <a:off x="2315716" y="3143157"/>
            <a:ext cx="1483618" cy="1537428"/>
          </a:xfrm>
          <a:custGeom>
            <a:avLst/>
            <a:gdLst/>
            <a:ahLst/>
            <a:cxnLst/>
            <a:rect r="r" b="b" t="t" l="l"/>
            <a:pathLst>
              <a:path h="1537428" w="1483618">
                <a:moveTo>
                  <a:pt x="0" y="0"/>
                </a:moveTo>
                <a:lnTo>
                  <a:pt x="1483618" y="0"/>
                </a:lnTo>
                <a:lnTo>
                  <a:pt x="1483618" y="1537428"/>
                </a:lnTo>
                <a:lnTo>
                  <a:pt x="0" y="1537428"/>
                </a:lnTo>
                <a:lnTo>
                  <a:pt x="0" y="0"/>
                </a:lnTo>
                <a:close/>
              </a:path>
            </a:pathLst>
          </a:custGeom>
          <a:blipFill>
            <a:blip r:embed="rId4"/>
            <a:stretch>
              <a:fillRect l="-1813" t="0" r="-1813"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028700" y="1125141"/>
            <a:ext cx="8115300"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Problem Statement</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3</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batch 09</a:t>
            </a:r>
          </a:p>
        </p:txBody>
      </p:sp>
      <p:sp>
        <p:nvSpPr>
          <p:cNvPr name="AutoShape 5" id="5"/>
          <p:cNvSpPr/>
          <p:nvPr/>
        </p:nvSpPr>
        <p:spPr>
          <a:xfrm>
            <a:off x="1761915" y="3650986"/>
            <a:ext cx="6642274" cy="0"/>
          </a:xfrm>
          <a:prstGeom prst="line">
            <a:avLst/>
          </a:prstGeom>
          <a:ln cap="flat" w="28575">
            <a:solidFill>
              <a:srgbClr val="8C7753"/>
            </a:solidFill>
            <a:prstDash val="solid"/>
            <a:headEnd type="none" len="sm" w="sm"/>
            <a:tailEnd type="none" len="sm" w="sm"/>
          </a:ln>
        </p:spPr>
      </p:sp>
      <p:sp>
        <p:nvSpPr>
          <p:cNvPr name="AutoShape 6" id="6"/>
          <p:cNvSpPr/>
          <p:nvPr/>
        </p:nvSpPr>
        <p:spPr>
          <a:xfrm>
            <a:off x="1761915" y="5241919"/>
            <a:ext cx="6642274" cy="0"/>
          </a:xfrm>
          <a:prstGeom prst="line">
            <a:avLst/>
          </a:prstGeom>
          <a:ln cap="flat" w="28575">
            <a:solidFill>
              <a:srgbClr val="8C7753"/>
            </a:solidFill>
            <a:prstDash val="solid"/>
            <a:headEnd type="none" len="sm" w="sm"/>
            <a:tailEnd type="none" len="sm" w="sm"/>
          </a:ln>
        </p:spPr>
      </p:sp>
      <p:sp>
        <p:nvSpPr>
          <p:cNvPr name="TextBox 7" id="7"/>
          <p:cNvSpPr txBox="true"/>
          <p:nvPr/>
        </p:nvSpPr>
        <p:spPr>
          <a:xfrm rot="0">
            <a:off x="1761915" y="2462808"/>
            <a:ext cx="900317" cy="547842"/>
          </a:xfrm>
          <a:prstGeom prst="rect">
            <a:avLst/>
          </a:prstGeom>
        </p:spPr>
        <p:txBody>
          <a:bodyPr anchor="t" rtlCol="false" tIns="0" lIns="0" bIns="0" rIns="0">
            <a:spAutoFit/>
          </a:bodyPr>
          <a:lstStyle/>
          <a:p>
            <a:pPr algn="l">
              <a:lnSpc>
                <a:spcPts val="4257"/>
              </a:lnSpc>
            </a:pPr>
            <a:r>
              <a:rPr lang="en-US" sz="3767">
                <a:solidFill>
                  <a:srgbClr val="5F0F15"/>
                </a:solidFill>
                <a:latin typeface="Archivo Black"/>
                <a:ea typeface="Archivo Black"/>
                <a:cs typeface="Archivo Black"/>
                <a:sym typeface="Archivo Black"/>
              </a:rPr>
              <a:t>01</a:t>
            </a:r>
          </a:p>
        </p:txBody>
      </p:sp>
      <p:sp>
        <p:nvSpPr>
          <p:cNvPr name="TextBox 8" id="8"/>
          <p:cNvSpPr txBox="true"/>
          <p:nvPr/>
        </p:nvSpPr>
        <p:spPr>
          <a:xfrm rot="0">
            <a:off x="1761915" y="4174965"/>
            <a:ext cx="900317" cy="547842"/>
          </a:xfrm>
          <a:prstGeom prst="rect">
            <a:avLst/>
          </a:prstGeom>
        </p:spPr>
        <p:txBody>
          <a:bodyPr anchor="t" rtlCol="false" tIns="0" lIns="0" bIns="0" rIns="0">
            <a:spAutoFit/>
          </a:bodyPr>
          <a:lstStyle/>
          <a:p>
            <a:pPr algn="l">
              <a:lnSpc>
                <a:spcPts val="4257"/>
              </a:lnSpc>
            </a:pPr>
            <a:r>
              <a:rPr lang="en-US" sz="3767">
                <a:solidFill>
                  <a:srgbClr val="5F0F15"/>
                </a:solidFill>
                <a:latin typeface="Archivo Black"/>
                <a:ea typeface="Archivo Black"/>
                <a:cs typeface="Archivo Black"/>
                <a:sym typeface="Archivo Black"/>
              </a:rPr>
              <a:t>02</a:t>
            </a:r>
          </a:p>
        </p:txBody>
      </p:sp>
      <p:sp>
        <p:nvSpPr>
          <p:cNvPr name="TextBox 9" id="9"/>
          <p:cNvSpPr txBox="true"/>
          <p:nvPr/>
        </p:nvSpPr>
        <p:spPr>
          <a:xfrm rot="0">
            <a:off x="2662232" y="2443758"/>
            <a:ext cx="2873427" cy="785796"/>
          </a:xfrm>
          <a:prstGeom prst="rect">
            <a:avLst/>
          </a:prstGeom>
        </p:spPr>
        <p:txBody>
          <a:bodyPr anchor="t" rtlCol="false" tIns="0" lIns="0" bIns="0" rIns="0">
            <a:spAutoFit/>
          </a:bodyPr>
          <a:lstStyle/>
          <a:p>
            <a:pPr algn="l">
              <a:lnSpc>
                <a:spcPts val="3024"/>
              </a:lnSpc>
            </a:pPr>
            <a:r>
              <a:rPr lang="en-US" sz="2676">
                <a:solidFill>
                  <a:srgbClr val="5F0F15"/>
                </a:solidFill>
                <a:latin typeface="Archivo Black"/>
                <a:ea typeface="Archivo Black"/>
                <a:cs typeface="Archivo Black"/>
                <a:sym typeface="Archivo Black"/>
              </a:rPr>
              <a:t>Manual booking issues</a:t>
            </a:r>
          </a:p>
        </p:txBody>
      </p:sp>
      <p:sp>
        <p:nvSpPr>
          <p:cNvPr name="TextBox 10" id="10"/>
          <p:cNvSpPr txBox="true"/>
          <p:nvPr/>
        </p:nvSpPr>
        <p:spPr>
          <a:xfrm rot="0">
            <a:off x="2634778" y="4238296"/>
            <a:ext cx="2873427" cy="404796"/>
          </a:xfrm>
          <a:prstGeom prst="rect">
            <a:avLst/>
          </a:prstGeom>
        </p:spPr>
        <p:txBody>
          <a:bodyPr anchor="t" rtlCol="false" tIns="0" lIns="0" bIns="0" rIns="0">
            <a:spAutoFit/>
          </a:bodyPr>
          <a:lstStyle/>
          <a:p>
            <a:pPr algn="l">
              <a:lnSpc>
                <a:spcPts val="3024"/>
              </a:lnSpc>
            </a:pPr>
            <a:r>
              <a:rPr lang="en-US" sz="2676">
                <a:solidFill>
                  <a:srgbClr val="5F0F15"/>
                </a:solidFill>
                <a:latin typeface="Archivo Black"/>
                <a:ea typeface="Archivo Black"/>
                <a:cs typeface="Archivo Black"/>
                <a:sym typeface="Archivo Black"/>
              </a:rPr>
              <a:t>Long queues</a:t>
            </a:r>
          </a:p>
        </p:txBody>
      </p:sp>
      <p:sp>
        <p:nvSpPr>
          <p:cNvPr name="TextBox 11" id="11"/>
          <p:cNvSpPr txBox="true"/>
          <p:nvPr/>
        </p:nvSpPr>
        <p:spPr>
          <a:xfrm rot="0">
            <a:off x="8597480" y="2151031"/>
            <a:ext cx="6900797" cy="1819300"/>
          </a:xfrm>
          <a:prstGeom prst="rect">
            <a:avLst/>
          </a:prstGeom>
        </p:spPr>
        <p:txBody>
          <a:bodyPr anchor="t" rtlCol="false" tIns="0" lIns="0" bIns="0" rIns="0">
            <a:spAutoFit/>
          </a:bodyPr>
          <a:lstStyle/>
          <a:p>
            <a:pPr algn="l" marL="0" indent="0" lvl="0">
              <a:lnSpc>
                <a:spcPts val="2857"/>
              </a:lnSpc>
              <a:spcBef>
                <a:spcPct val="0"/>
              </a:spcBef>
            </a:pPr>
            <a:r>
              <a:rPr lang="en-US" b="true" sz="2197" spc="-10">
                <a:solidFill>
                  <a:srgbClr val="343434"/>
                </a:solidFill>
                <a:latin typeface="HK Grotesk Bold"/>
                <a:ea typeface="HK Grotesk Bold"/>
                <a:cs typeface="HK Grotesk Bold"/>
                <a:sym typeface="HK Grotesk Bold"/>
              </a:rPr>
              <a:t>Manual booking issues occur due to paper-based records and human involvement, causing slow processing, higher error chances, data loss, and difficulty managing bookings during peak demand.</a:t>
            </a:r>
          </a:p>
          <a:p>
            <a:pPr algn="l" marL="0" indent="0" lvl="0">
              <a:lnSpc>
                <a:spcPts val="2987"/>
              </a:lnSpc>
              <a:spcBef>
                <a:spcPct val="0"/>
              </a:spcBef>
            </a:pPr>
          </a:p>
        </p:txBody>
      </p:sp>
      <p:sp>
        <p:nvSpPr>
          <p:cNvPr name="TextBox 12" id="12"/>
          <p:cNvSpPr txBox="true"/>
          <p:nvPr/>
        </p:nvSpPr>
        <p:spPr>
          <a:xfrm rot="0">
            <a:off x="8597480" y="3773543"/>
            <a:ext cx="6900797" cy="1755165"/>
          </a:xfrm>
          <a:prstGeom prst="rect">
            <a:avLst/>
          </a:prstGeom>
        </p:spPr>
        <p:txBody>
          <a:bodyPr anchor="t" rtlCol="false" tIns="0" lIns="0" bIns="0" rIns="0">
            <a:spAutoFit/>
          </a:bodyPr>
          <a:lstStyle/>
          <a:p>
            <a:pPr algn="l" marL="0" indent="0" lvl="0">
              <a:lnSpc>
                <a:spcPts val="2857"/>
              </a:lnSpc>
              <a:spcBef>
                <a:spcPct val="0"/>
              </a:spcBef>
            </a:pPr>
            <a:r>
              <a:rPr lang="en-US" b="true" sz="2197" spc="-10">
                <a:solidFill>
                  <a:srgbClr val="343434"/>
                </a:solidFill>
                <a:latin typeface="HK Grotesk Bold"/>
                <a:ea typeface="HK Grotesk Bold"/>
                <a:cs typeface="HK Grotesk Bold"/>
                <a:sym typeface="HK Grotesk Bold"/>
              </a:rPr>
              <a:t>Long queues arise in traditional booking systems where users wait physically for tickets, leading to time wastage, overcrowding, inconvenience, and poor customer experience during popular events.</a:t>
            </a:r>
          </a:p>
          <a:p>
            <a:pPr algn="l" marL="0" indent="0" lvl="0">
              <a:lnSpc>
                <a:spcPts val="2467"/>
              </a:lnSpc>
              <a:spcBef>
                <a:spcPct val="0"/>
              </a:spcBef>
            </a:pPr>
          </a:p>
        </p:txBody>
      </p:sp>
      <p:sp>
        <p:nvSpPr>
          <p:cNvPr name="AutoShape 13" id="13"/>
          <p:cNvSpPr/>
          <p:nvPr/>
        </p:nvSpPr>
        <p:spPr>
          <a:xfrm>
            <a:off x="8028682" y="3650986"/>
            <a:ext cx="7565689" cy="0"/>
          </a:xfrm>
          <a:prstGeom prst="line">
            <a:avLst/>
          </a:prstGeom>
          <a:ln cap="flat" w="28575">
            <a:solidFill>
              <a:srgbClr val="000000"/>
            </a:solidFill>
            <a:prstDash val="solid"/>
            <a:headEnd type="none" len="sm" w="sm"/>
            <a:tailEnd type="none" len="sm" w="sm"/>
          </a:ln>
        </p:spPr>
      </p:sp>
      <p:sp>
        <p:nvSpPr>
          <p:cNvPr name="AutoShape 14" id="14"/>
          <p:cNvSpPr/>
          <p:nvPr/>
        </p:nvSpPr>
        <p:spPr>
          <a:xfrm>
            <a:off x="8028682" y="5241919"/>
            <a:ext cx="7565689" cy="0"/>
          </a:xfrm>
          <a:prstGeom prst="line">
            <a:avLst/>
          </a:prstGeom>
          <a:ln cap="flat" w="28575">
            <a:solidFill>
              <a:srgbClr val="000000"/>
            </a:solidFill>
            <a:prstDash val="solid"/>
            <a:headEnd type="none" len="sm" w="sm"/>
            <a:tailEnd type="none" len="sm" w="sm"/>
          </a:ln>
        </p:spPr>
      </p:sp>
      <p:sp>
        <p:nvSpPr>
          <p:cNvPr name="AutoShape 15" id="15"/>
          <p:cNvSpPr/>
          <p:nvPr/>
        </p:nvSpPr>
        <p:spPr>
          <a:xfrm>
            <a:off x="1761915" y="6832853"/>
            <a:ext cx="6642274" cy="0"/>
          </a:xfrm>
          <a:prstGeom prst="line">
            <a:avLst/>
          </a:prstGeom>
          <a:ln cap="flat" w="28575">
            <a:solidFill>
              <a:srgbClr val="8C7753"/>
            </a:solidFill>
            <a:prstDash val="solid"/>
            <a:headEnd type="none" len="sm" w="sm"/>
            <a:tailEnd type="none" len="sm" w="sm"/>
          </a:ln>
        </p:spPr>
      </p:sp>
      <p:sp>
        <p:nvSpPr>
          <p:cNvPr name="AutoShape 16" id="16"/>
          <p:cNvSpPr/>
          <p:nvPr/>
        </p:nvSpPr>
        <p:spPr>
          <a:xfrm>
            <a:off x="1761915" y="8607995"/>
            <a:ext cx="6642274" cy="0"/>
          </a:xfrm>
          <a:prstGeom prst="line">
            <a:avLst/>
          </a:prstGeom>
          <a:ln cap="flat" w="28575">
            <a:solidFill>
              <a:srgbClr val="8C7753"/>
            </a:solidFill>
            <a:prstDash val="solid"/>
            <a:headEnd type="none" len="sm" w="sm"/>
            <a:tailEnd type="none" len="sm" w="sm"/>
          </a:ln>
        </p:spPr>
      </p:sp>
      <p:sp>
        <p:nvSpPr>
          <p:cNvPr name="TextBox 17" id="17"/>
          <p:cNvSpPr txBox="true"/>
          <p:nvPr/>
        </p:nvSpPr>
        <p:spPr>
          <a:xfrm rot="0">
            <a:off x="1761915" y="5715838"/>
            <a:ext cx="900317" cy="547842"/>
          </a:xfrm>
          <a:prstGeom prst="rect">
            <a:avLst/>
          </a:prstGeom>
        </p:spPr>
        <p:txBody>
          <a:bodyPr anchor="t" rtlCol="false" tIns="0" lIns="0" bIns="0" rIns="0">
            <a:spAutoFit/>
          </a:bodyPr>
          <a:lstStyle/>
          <a:p>
            <a:pPr algn="l">
              <a:lnSpc>
                <a:spcPts val="4257"/>
              </a:lnSpc>
            </a:pPr>
            <a:r>
              <a:rPr lang="en-US" sz="3767">
                <a:solidFill>
                  <a:srgbClr val="5F0F15"/>
                </a:solidFill>
                <a:latin typeface="Archivo Black"/>
                <a:ea typeface="Archivo Black"/>
                <a:cs typeface="Archivo Black"/>
                <a:sym typeface="Archivo Black"/>
              </a:rPr>
              <a:t>03</a:t>
            </a:r>
          </a:p>
        </p:txBody>
      </p:sp>
      <p:sp>
        <p:nvSpPr>
          <p:cNvPr name="TextBox 18" id="18"/>
          <p:cNvSpPr txBox="true"/>
          <p:nvPr/>
        </p:nvSpPr>
        <p:spPr>
          <a:xfrm rot="0">
            <a:off x="2662232" y="5696788"/>
            <a:ext cx="2873427" cy="1166796"/>
          </a:xfrm>
          <a:prstGeom prst="rect">
            <a:avLst/>
          </a:prstGeom>
        </p:spPr>
        <p:txBody>
          <a:bodyPr anchor="t" rtlCol="false" tIns="0" lIns="0" bIns="0" rIns="0">
            <a:spAutoFit/>
          </a:bodyPr>
          <a:lstStyle/>
          <a:p>
            <a:pPr algn="l">
              <a:lnSpc>
                <a:spcPts val="3024"/>
              </a:lnSpc>
            </a:pPr>
            <a:r>
              <a:rPr lang="en-US" sz="2676">
                <a:solidFill>
                  <a:srgbClr val="5F0F15"/>
                </a:solidFill>
                <a:latin typeface="Archivo Black"/>
                <a:ea typeface="Archivo Black"/>
                <a:cs typeface="Archivo Black"/>
                <a:sym typeface="Archivo Black"/>
              </a:rPr>
              <a:t>Payment problems</a:t>
            </a:r>
          </a:p>
          <a:p>
            <a:pPr algn="l">
              <a:lnSpc>
                <a:spcPts val="3024"/>
              </a:lnSpc>
            </a:pPr>
          </a:p>
        </p:txBody>
      </p:sp>
      <p:sp>
        <p:nvSpPr>
          <p:cNvPr name="AutoShape 19" id="19"/>
          <p:cNvSpPr/>
          <p:nvPr/>
        </p:nvSpPr>
        <p:spPr>
          <a:xfrm>
            <a:off x="8028682" y="6832853"/>
            <a:ext cx="7565689" cy="0"/>
          </a:xfrm>
          <a:prstGeom prst="line">
            <a:avLst/>
          </a:prstGeom>
          <a:ln cap="flat" w="28575">
            <a:solidFill>
              <a:srgbClr val="000000"/>
            </a:solidFill>
            <a:prstDash val="solid"/>
            <a:headEnd type="none" len="sm" w="sm"/>
            <a:tailEnd type="none" len="sm" w="sm"/>
          </a:ln>
        </p:spPr>
      </p:sp>
      <p:sp>
        <p:nvSpPr>
          <p:cNvPr name="AutoShape 20" id="20"/>
          <p:cNvSpPr/>
          <p:nvPr/>
        </p:nvSpPr>
        <p:spPr>
          <a:xfrm>
            <a:off x="8028682" y="8607995"/>
            <a:ext cx="7565689" cy="0"/>
          </a:xfrm>
          <a:prstGeom prst="line">
            <a:avLst/>
          </a:prstGeom>
          <a:ln cap="flat" w="28575">
            <a:solidFill>
              <a:srgbClr val="000000"/>
            </a:solidFill>
            <a:prstDash val="solid"/>
            <a:headEnd type="none" len="sm" w="sm"/>
            <a:tailEnd type="none" len="sm" w="sm"/>
          </a:ln>
        </p:spPr>
      </p:sp>
      <p:sp>
        <p:nvSpPr>
          <p:cNvPr name="TextBox 21" id="21"/>
          <p:cNvSpPr txBox="true"/>
          <p:nvPr/>
        </p:nvSpPr>
        <p:spPr>
          <a:xfrm rot="0">
            <a:off x="1761915" y="7372683"/>
            <a:ext cx="900317" cy="547842"/>
          </a:xfrm>
          <a:prstGeom prst="rect">
            <a:avLst/>
          </a:prstGeom>
        </p:spPr>
        <p:txBody>
          <a:bodyPr anchor="t" rtlCol="false" tIns="0" lIns="0" bIns="0" rIns="0">
            <a:spAutoFit/>
          </a:bodyPr>
          <a:lstStyle/>
          <a:p>
            <a:pPr algn="l">
              <a:lnSpc>
                <a:spcPts val="4257"/>
              </a:lnSpc>
            </a:pPr>
            <a:r>
              <a:rPr lang="en-US" sz="3767">
                <a:solidFill>
                  <a:srgbClr val="5F0F15"/>
                </a:solidFill>
                <a:latin typeface="Archivo Black"/>
                <a:ea typeface="Archivo Black"/>
                <a:cs typeface="Archivo Black"/>
                <a:sym typeface="Archivo Black"/>
              </a:rPr>
              <a:t>04</a:t>
            </a:r>
          </a:p>
        </p:txBody>
      </p:sp>
      <p:sp>
        <p:nvSpPr>
          <p:cNvPr name="TextBox 22" id="22"/>
          <p:cNvSpPr txBox="true"/>
          <p:nvPr/>
        </p:nvSpPr>
        <p:spPr>
          <a:xfrm rot="0">
            <a:off x="2662232" y="7337127"/>
            <a:ext cx="2873427" cy="1166796"/>
          </a:xfrm>
          <a:prstGeom prst="rect">
            <a:avLst/>
          </a:prstGeom>
        </p:spPr>
        <p:txBody>
          <a:bodyPr anchor="t" rtlCol="false" tIns="0" lIns="0" bIns="0" rIns="0">
            <a:spAutoFit/>
          </a:bodyPr>
          <a:lstStyle/>
          <a:p>
            <a:pPr algn="l">
              <a:lnSpc>
                <a:spcPts val="3024"/>
              </a:lnSpc>
            </a:pPr>
            <a:r>
              <a:rPr lang="en-US" sz="2676">
                <a:solidFill>
                  <a:srgbClr val="5F0F15"/>
                </a:solidFill>
                <a:latin typeface="Archivo Black"/>
                <a:ea typeface="Archivo Black"/>
                <a:cs typeface="Archivo Black"/>
                <a:sym typeface="Archivo Black"/>
              </a:rPr>
              <a:t>No real-time updates</a:t>
            </a:r>
          </a:p>
          <a:p>
            <a:pPr algn="l">
              <a:lnSpc>
                <a:spcPts val="3024"/>
              </a:lnSpc>
            </a:pPr>
          </a:p>
        </p:txBody>
      </p:sp>
      <p:sp>
        <p:nvSpPr>
          <p:cNvPr name="TextBox 23" id="23"/>
          <p:cNvSpPr txBox="true"/>
          <p:nvPr/>
        </p:nvSpPr>
        <p:spPr>
          <a:xfrm rot="0">
            <a:off x="8597480" y="5364477"/>
            <a:ext cx="6900797" cy="1755165"/>
          </a:xfrm>
          <a:prstGeom prst="rect">
            <a:avLst/>
          </a:prstGeom>
        </p:spPr>
        <p:txBody>
          <a:bodyPr anchor="t" rtlCol="false" tIns="0" lIns="0" bIns="0" rIns="0">
            <a:spAutoFit/>
          </a:bodyPr>
          <a:lstStyle/>
          <a:p>
            <a:pPr algn="l" marL="0" indent="0" lvl="0">
              <a:lnSpc>
                <a:spcPts val="2857"/>
              </a:lnSpc>
              <a:spcBef>
                <a:spcPct val="0"/>
              </a:spcBef>
            </a:pPr>
            <a:r>
              <a:rPr lang="en-US" b="true" sz="2197" spc="-10">
                <a:solidFill>
                  <a:srgbClr val="343434"/>
                </a:solidFill>
                <a:latin typeface="HK Grotesk Bold"/>
                <a:ea typeface="HK Grotesk Bold"/>
                <a:cs typeface="HK Grotesk Bold"/>
                <a:sym typeface="HK Grotesk Bold"/>
              </a:rPr>
              <a:t>Payment problems occur due to cash handling, delayed confirmations, billing errors, lack of transaction proof, and difficulties in managing refunds within traditional or semi-digital booking systems.</a:t>
            </a:r>
          </a:p>
          <a:p>
            <a:pPr algn="l" marL="0" indent="0" lvl="0">
              <a:lnSpc>
                <a:spcPts val="2467"/>
              </a:lnSpc>
              <a:spcBef>
                <a:spcPct val="0"/>
              </a:spcBef>
            </a:pPr>
          </a:p>
        </p:txBody>
      </p:sp>
      <p:sp>
        <p:nvSpPr>
          <p:cNvPr name="TextBox 24" id="24"/>
          <p:cNvSpPr txBox="true"/>
          <p:nvPr/>
        </p:nvSpPr>
        <p:spPr>
          <a:xfrm rot="0">
            <a:off x="8597480" y="7023190"/>
            <a:ext cx="6900797" cy="1755165"/>
          </a:xfrm>
          <a:prstGeom prst="rect">
            <a:avLst/>
          </a:prstGeom>
        </p:spPr>
        <p:txBody>
          <a:bodyPr anchor="t" rtlCol="false" tIns="0" lIns="0" bIns="0" rIns="0">
            <a:spAutoFit/>
          </a:bodyPr>
          <a:lstStyle/>
          <a:p>
            <a:pPr algn="l" marL="0" indent="0" lvl="0">
              <a:lnSpc>
                <a:spcPts val="2857"/>
              </a:lnSpc>
              <a:spcBef>
                <a:spcPct val="0"/>
              </a:spcBef>
            </a:pPr>
            <a:r>
              <a:rPr lang="en-US" b="true" sz="2197" spc="-10">
                <a:solidFill>
                  <a:srgbClr val="343434"/>
                </a:solidFill>
                <a:latin typeface="HK Grotesk Bold"/>
                <a:ea typeface="HK Grotesk Bold"/>
                <a:cs typeface="HK Grotesk Bold"/>
                <a:sym typeface="HK Grotesk Bold"/>
              </a:rPr>
              <a:t>Lack of real-time updates prevents users from viewing current ticket availability and booking status, leading to confusion, overbooking, cancellations, and inefficient event planning.</a:t>
            </a:r>
          </a:p>
          <a:p>
            <a:pPr algn="l" marL="0" indent="0" lvl="0">
              <a:lnSpc>
                <a:spcPts val="2467"/>
              </a:lnSpc>
              <a:spcBef>
                <a:spcPct val="0"/>
              </a:spcBef>
            </a:pPr>
          </a:p>
        </p:txBody>
      </p:sp>
      <p:sp>
        <p:nvSpPr>
          <p:cNvPr name="Freeform 25" id="25"/>
          <p:cNvSpPr/>
          <p:nvPr/>
        </p:nvSpPr>
        <p:spPr>
          <a:xfrm flipH="false" flipV="false" rot="0">
            <a:off x="6544923" y="1029891"/>
            <a:ext cx="721415" cy="732711"/>
          </a:xfrm>
          <a:custGeom>
            <a:avLst/>
            <a:gdLst/>
            <a:ahLst/>
            <a:cxnLst/>
            <a:rect r="r" b="b" t="t" l="l"/>
            <a:pathLst>
              <a:path h="732711" w="721415">
                <a:moveTo>
                  <a:pt x="0" y="0"/>
                </a:moveTo>
                <a:lnTo>
                  <a:pt x="721415" y="0"/>
                </a:lnTo>
                <a:lnTo>
                  <a:pt x="721415" y="732711"/>
                </a:lnTo>
                <a:lnTo>
                  <a:pt x="0" y="732711"/>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614470"/>
            <a:chOff x="0" y="0"/>
            <a:chExt cx="1811948" cy="754430"/>
          </a:xfrm>
        </p:grpSpPr>
        <p:sp>
          <p:nvSpPr>
            <p:cNvPr name="Freeform 3" id="3"/>
            <p:cNvSpPr/>
            <p:nvPr/>
          </p:nvSpPr>
          <p:spPr>
            <a:xfrm flipH="false" flipV="false" rot="0">
              <a:off x="0" y="0"/>
              <a:ext cx="1811948" cy="754430"/>
            </a:xfrm>
            <a:custGeom>
              <a:avLst/>
              <a:gdLst/>
              <a:ahLst/>
              <a:cxnLst/>
              <a:rect r="r" b="b" t="t" l="l"/>
              <a:pathLst>
                <a:path h="754430" w="1811948">
                  <a:moveTo>
                    <a:pt x="1811948" y="0"/>
                  </a:moveTo>
                  <a:lnTo>
                    <a:pt x="1811948" y="640130"/>
                  </a:lnTo>
                  <a:lnTo>
                    <a:pt x="905974" y="754430"/>
                  </a:lnTo>
                  <a:lnTo>
                    <a:pt x="0" y="640130"/>
                  </a:lnTo>
                  <a:lnTo>
                    <a:pt x="0" y="0"/>
                  </a:lnTo>
                  <a:lnTo>
                    <a:pt x="1811948" y="0"/>
                  </a:lnTo>
                  <a:close/>
                </a:path>
              </a:pathLst>
            </a:custGeom>
            <a:solidFill>
              <a:srgbClr val="FAF7F0"/>
            </a:solidFill>
          </p:spPr>
        </p:sp>
        <p:sp>
          <p:nvSpPr>
            <p:cNvPr name="TextBox 4" id="4"/>
            <p:cNvSpPr txBox="true"/>
            <p:nvPr/>
          </p:nvSpPr>
          <p:spPr>
            <a:xfrm>
              <a:off x="0" y="-47625"/>
              <a:ext cx="1811948" cy="687755"/>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12044146" y="1998202"/>
            <a:ext cx="4953540" cy="4953540"/>
          </a:xfrm>
          <a:custGeom>
            <a:avLst/>
            <a:gdLst/>
            <a:ahLst/>
            <a:cxnLst/>
            <a:rect r="r" b="b" t="t" l="l"/>
            <a:pathLst>
              <a:path h="4953540" w="4953540">
                <a:moveTo>
                  <a:pt x="0" y="0"/>
                </a:moveTo>
                <a:lnTo>
                  <a:pt x="4953541" y="0"/>
                </a:lnTo>
                <a:lnTo>
                  <a:pt x="4953541" y="4953541"/>
                </a:lnTo>
                <a:lnTo>
                  <a:pt x="0" y="4953541"/>
                </a:lnTo>
                <a:lnTo>
                  <a:pt x="0" y="0"/>
                </a:lnTo>
                <a:close/>
              </a:path>
            </a:pathLst>
          </a:custGeom>
          <a:blipFill>
            <a:blip r:embed="rId2"/>
            <a:stretch>
              <a:fillRect l="0" t="0" r="0" b="0"/>
            </a:stretch>
          </a:blipFill>
        </p:spPr>
      </p:sp>
      <p:sp>
        <p:nvSpPr>
          <p:cNvPr name="TextBox 6" id="6"/>
          <p:cNvSpPr txBox="true"/>
          <p:nvPr/>
        </p:nvSpPr>
        <p:spPr>
          <a:xfrm rot="0">
            <a:off x="1028700" y="1123950"/>
            <a:ext cx="8115300"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O</a:t>
            </a:r>
            <a:r>
              <a:rPr lang="en-US" sz="4800" spc="-288" b="true">
                <a:solidFill>
                  <a:srgbClr val="331B0D"/>
                </a:solidFill>
                <a:latin typeface="Open Sauce Bold"/>
                <a:ea typeface="Open Sauce Bold"/>
                <a:cs typeface="Open Sauce Bold"/>
                <a:sym typeface="Open Sauce Bold"/>
              </a:rPr>
              <a:t>bjec</a:t>
            </a:r>
            <a:r>
              <a:rPr lang="en-US" sz="4800" spc="-288" b="true">
                <a:solidFill>
                  <a:srgbClr val="331B0D"/>
                </a:solidFill>
                <a:latin typeface="Open Sauce Bold"/>
                <a:ea typeface="Open Sauce Bold"/>
                <a:cs typeface="Open Sauce Bold"/>
                <a:sym typeface="Open Sauce Bold"/>
              </a:rPr>
              <a:t>tives</a:t>
            </a:r>
          </a:p>
        </p:txBody>
      </p:sp>
      <p:sp>
        <p:nvSpPr>
          <p:cNvPr name="TextBox 7" id="7"/>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4</a:t>
            </a:r>
          </a:p>
        </p:txBody>
      </p:sp>
      <p:sp>
        <p:nvSpPr>
          <p:cNvPr name="TextBox 8" id="8"/>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batch 09</a:t>
            </a:r>
          </a:p>
        </p:txBody>
      </p:sp>
      <p:sp>
        <p:nvSpPr>
          <p:cNvPr name="TextBox 9" id="9"/>
          <p:cNvSpPr txBox="true"/>
          <p:nvPr/>
        </p:nvSpPr>
        <p:spPr>
          <a:xfrm rot="0">
            <a:off x="2048822" y="2971341"/>
            <a:ext cx="3397040" cy="579845"/>
          </a:xfrm>
          <a:prstGeom prst="rect">
            <a:avLst/>
          </a:prstGeom>
        </p:spPr>
        <p:txBody>
          <a:bodyPr anchor="t" rtlCol="false" tIns="0" lIns="0" bIns="0" rIns="0">
            <a:spAutoFit/>
          </a:bodyPr>
          <a:lstStyle/>
          <a:p>
            <a:pPr algn="l">
              <a:lnSpc>
                <a:spcPts val="2271"/>
              </a:lnSpc>
            </a:pPr>
            <a:r>
              <a:rPr lang="en-US" sz="2010">
                <a:solidFill>
                  <a:srgbClr val="5F0F15"/>
                </a:solidFill>
                <a:latin typeface="Archivo Black"/>
                <a:ea typeface="Archivo Black"/>
                <a:cs typeface="Archivo Black"/>
                <a:sym typeface="Archivo Black"/>
              </a:rPr>
              <a:t>Automate booking process</a:t>
            </a:r>
          </a:p>
        </p:txBody>
      </p:sp>
      <p:sp>
        <p:nvSpPr>
          <p:cNvPr name="TextBox 10" id="10"/>
          <p:cNvSpPr txBox="true"/>
          <p:nvPr/>
        </p:nvSpPr>
        <p:spPr>
          <a:xfrm rot="0">
            <a:off x="2048822" y="4218430"/>
            <a:ext cx="2756111" cy="865595"/>
          </a:xfrm>
          <a:prstGeom prst="rect">
            <a:avLst/>
          </a:prstGeom>
        </p:spPr>
        <p:txBody>
          <a:bodyPr anchor="t" rtlCol="false" tIns="0" lIns="0" bIns="0" rIns="0">
            <a:spAutoFit/>
          </a:bodyPr>
          <a:lstStyle/>
          <a:p>
            <a:pPr algn="l">
              <a:lnSpc>
                <a:spcPts val="2271"/>
              </a:lnSpc>
            </a:pPr>
            <a:r>
              <a:rPr lang="en-US" sz="2010">
                <a:solidFill>
                  <a:srgbClr val="5F0F15"/>
                </a:solidFill>
                <a:latin typeface="Archivo Black"/>
                <a:ea typeface="Archivo Black"/>
                <a:cs typeface="Archivo Black"/>
                <a:sym typeface="Archivo Black"/>
              </a:rPr>
              <a:t>Enable online payments</a:t>
            </a:r>
          </a:p>
          <a:p>
            <a:pPr algn="l">
              <a:lnSpc>
                <a:spcPts val="2271"/>
              </a:lnSpc>
            </a:pPr>
          </a:p>
        </p:txBody>
      </p:sp>
      <p:sp>
        <p:nvSpPr>
          <p:cNvPr name="TextBox 11" id="11"/>
          <p:cNvSpPr txBox="true"/>
          <p:nvPr/>
        </p:nvSpPr>
        <p:spPr>
          <a:xfrm rot="0">
            <a:off x="2048822" y="5362838"/>
            <a:ext cx="2590641" cy="865595"/>
          </a:xfrm>
          <a:prstGeom prst="rect">
            <a:avLst/>
          </a:prstGeom>
        </p:spPr>
        <p:txBody>
          <a:bodyPr anchor="t" rtlCol="false" tIns="0" lIns="0" bIns="0" rIns="0">
            <a:spAutoFit/>
          </a:bodyPr>
          <a:lstStyle/>
          <a:p>
            <a:pPr algn="l">
              <a:lnSpc>
                <a:spcPts val="2271"/>
              </a:lnSpc>
            </a:pPr>
            <a:r>
              <a:rPr lang="en-US" sz="2010">
                <a:solidFill>
                  <a:srgbClr val="5F0F15"/>
                </a:solidFill>
                <a:latin typeface="Archivo Black"/>
                <a:ea typeface="Archivo Black"/>
                <a:cs typeface="Archivo Black"/>
                <a:sym typeface="Archivo Black"/>
              </a:rPr>
              <a:t>Provide QR code validation</a:t>
            </a:r>
          </a:p>
          <a:p>
            <a:pPr algn="l">
              <a:lnSpc>
                <a:spcPts val="2271"/>
              </a:lnSpc>
            </a:pPr>
          </a:p>
        </p:txBody>
      </p:sp>
      <p:sp>
        <p:nvSpPr>
          <p:cNvPr name="TextBox 12" id="12"/>
          <p:cNvSpPr txBox="true"/>
          <p:nvPr/>
        </p:nvSpPr>
        <p:spPr>
          <a:xfrm rot="0">
            <a:off x="2048822" y="6523708"/>
            <a:ext cx="2756111" cy="865595"/>
          </a:xfrm>
          <a:prstGeom prst="rect">
            <a:avLst/>
          </a:prstGeom>
        </p:spPr>
        <p:txBody>
          <a:bodyPr anchor="t" rtlCol="false" tIns="0" lIns="0" bIns="0" rIns="0">
            <a:spAutoFit/>
          </a:bodyPr>
          <a:lstStyle/>
          <a:p>
            <a:pPr algn="l">
              <a:lnSpc>
                <a:spcPts val="2271"/>
              </a:lnSpc>
            </a:pPr>
            <a:r>
              <a:rPr lang="en-US" sz="2010">
                <a:solidFill>
                  <a:srgbClr val="5F0F15"/>
                </a:solidFill>
                <a:latin typeface="Archivo Black"/>
                <a:ea typeface="Archivo Black"/>
                <a:cs typeface="Archivo Black"/>
                <a:sym typeface="Archivo Black"/>
              </a:rPr>
              <a:t>Improve user experience</a:t>
            </a:r>
          </a:p>
          <a:p>
            <a:pPr algn="l">
              <a:lnSpc>
                <a:spcPts val="2271"/>
              </a:lnSpc>
            </a:pPr>
          </a:p>
        </p:txBody>
      </p:sp>
      <p:sp>
        <p:nvSpPr>
          <p:cNvPr name="TextBox 13" id="13"/>
          <p:cNvSpPr txBox="true"/>
          <p:nvPr/>
        </p:nvSpPr>
        <p:spPr>
          <a:xfrm rot="0">
            <a:off x="5862207" y="4218430"/>
            <a:ext cx="5352102" cy="1292352"/>
          </a:xfrm>
          <a:prstGeom prst="rect">
            <a:avLst/>
          </a:prstGeom>
        </p:spPr>
        <p:txBody>
          <a:bodyPr anchor="t" rtlCol="false" tIns="0" lIns="0" bIns="0" rIns="0">
            <a:spAutoFit/>
          </a:bodyPr>
          <a:lstStyle/>
          <a:p>
            <a:pPr algn="l">
              <a:lnSpc>
                <a:spcPts val="2033"/>
              </a:lnSpc>
            </a:pPr>
            <a:r>
              <a:rPr lang="en-US" sz="1800">
                <a:solidFill>
                  <a:srgbClr val="000000"/>
                </a:solidFill>
                <a:latin typeface="HK Grotesk"/>
                <a:ea typeface="HK Grotesk"/>
                <a:cs typeface="HK Grotesk"/>
                <a:sym typeface="HK Grotesk"/>
              </a:rPr>
              <a:t>Online payments allow users to complete transactions securely with instant confirmation, reducing cash handling issues and improving reliability and convenience.</a:t>
            </a:r>
          </a:p>
          <a:p>
            <a:pPr algn="l">
              <a:lnSpc>
                <a:spcPts val="2033"/>
              </a:lnSpc>
            </a:pPr>
          </a:p>
        </p:txBody>
      </p:sp>
      <p:sp>
        <p:nvSpPr>
          <p:cNvPr name="TextBox 14" id="14"/>
          <p:cNvSpPr txBox="true"/>
          <p:nvPr/>
        </p:nvSpPr>
        <p:spPr>
          <a:xfrm rot="0">
            <a:off x="5862207" y="5362838"/>
            <a:ext cx="5352102" cy="1015727"/>
          </a:xfrm>
          <a:prstGeom prst="rect">
            <a:avLst/>
          </a:prstGeom>
        </p:spPr>
        <p:txBody>
          <a:bodyPr anchor="t" rtlCol="false" tIns="0" lIns="0" bIns="0" rIns="0">
            <a:spAutoFit/>
          </a:bodyPr>
          <a:lstStyle/>
          <a:p>
            <a:pPr algn="l">
              <a:lnSpc>
                <a:spcPts val="2033"/>
              </a:lnSpc>
            </a:pPr>
            <a:r>
              <a:rPr lang="en-US" sz="1800">
                <a:solidFill>
                  <a:srgbClr val="000000"/>
                </a:solidFill>
                <a:latin typeface="HK Grotesk"/>
                <a:ea typeface="HK Grotesk"/>
                <a:cs typeface="HK Grotesk"/>
                <a:sym typeface="HK Grotesk"/>
              </a:rPr>
              <a:t>QR code validation ensures secure entry by verifying digital tickets quickly, preventing duplicate access, and enabling smooth event entry management.</a:t>
            </a:r>
          </a:p>
          <a:p>
            <a:pPr algn="l">
              <a:lnSpc>
                <a:spcPts val="1932"/>
              </a:lnSpc>
            </a:pPr>
          </a:p>
        </p:txBody>
      </p:sp>
      <p:sp>
        <p:nvSpPr>
          <p:cNvPr name="TextBox 15" id="15"/>
          <p:cNvSpPr txBox="true"/>
          <p:nvPr/>
        </p:nvSpPr>
        <p:spPr>
          <a:xfrm rot="0">
            <a:off x="5862207" y="6523708"/>
            <a:ext cx="5352102" cy="1015727"/>
          </a:xfrm>
          <a:prstGeom prst="rect">
            <a:avLst/>
          </a:prstGeom>
        </p:spPr>
        <p:txBody>
          <a:bodyPr anchor="t" rtlCol="false" tIns="0" lIns="0" bIns="0" rIns="0">
            <a:spAutoFit/>
          </a:bodyPr>
          <a:lstStyle/>
          <a:p>
            <a:pPr algn="l">
              <a:lnSpc>
                <a:spcPts val="2033"/>
              </a:lnSpc>
            </a:pPr>
            <a:r>
              <a:rPr lang="en-US" sz="1800">
                <a:solidFill>
                  <a:srgbClr val="000000"/>
                </a:solidFill>
                <a:latin typeface="HK Grotesk"/>
                <a:ea typeface="HK Grotesk"/>
                <a:cs typeface="HK Grotesk"/>
                <a:sym typeface="HK Grotesk"/>
              </a:rPr>
              <a:t>The system enhances user experience with a simple interface, fast booking process, instant confirmation, and easy access to event information.</a:t>
            </a:r>
          </a:p>
          <a:p>
            <a:pPr algn="l">
              <a:lnSpc>
                <a:spcPts val="1932"/>
              </a:lnSpc>
            </a:pPr>
          </a:p>
        </p:txBody>
      </p:sp>
      <p:sp>
        <p:nvSpPr>
          <p:cNvPr name="TextBox 16" id="16"/>
          <p:cNvSpPr txBox="true"/>
          <p:nvPr/>
        </p:nvSpPr>
        <p:spPr>
          <a:xfrm rot="0">
            <a:off x="5862207" y="2971341"/>
            <a:ext cx="5352102" cy="1272902"/>
          </a:xfrm>
          <a:prstGeom prst="rect">
            <a:avLst/>
          </a:prstGeom>
        </p:spPr>
        <p:txBody>
          <a:bodyPr anchor="t" rtlCol="false" tIns="0" lIns="0" bIns="0" rIns="0">
            <a:spAutoFit/>
          </a:bodyPr>
          <a:lstStyle/>
          <a:p>
            <a:pPr algn="l">
              <a:lnSpc>
                <a:spcPts val="2033"/>
              </a:lnSpc>
            </a:pPr>
            <a:r>
              <a:rPr lang="en-US" sz="1800">
                <a:solidFill>
                  <a:srgbClr val="000000"/>
                </a:solidFill>
                <a:latin typeface="HK Grotesk"/>
                <a:ea typeface="HK Grotesk"/>
                <a:cs typeface="HK Grotesk"/>
                <a:sym typeface="HK Grotesk"/>
              </a:rPr>
              <a:t>Automating booking reduces manual work by digitally managing event selection, ticket reservation, and confirmation, improving speed, accuracy, and efficiency.</a:t>
            </a:r>
          </a:p>
          <a:p>
            <a:pPr algn="l">
              <a:lnSpc>
                <a:spcPts val="1932"/>
              </a:lnSpc>
            </a:pPr>
          </a:p>
        </p:txBody>
      </p:sp>
      <p:sp>
        <p:nvSpPr>
          <p:cNvPr name="TextBox 17" id="17"/>
          <p:cNvSpPr txBox="true"/>
          <p:nvPr/>
        </p:nvSpPr>
        <p:spPr>
          <a:xfrm rot="0">
            <a:off x="8256070" y="8056167"/>
            <a:ext cx="1775861"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Key Insight</a:t>
            </a:r>
          </a:p>
        </p:txBody>
      </p:sp>
      <p:sp>
        <p:nvSpPr>
          <p:cNvPr name="TextBox 18" id="18"/>
          <p:cNvSpPr txBox="true"/>
          <p:nvPr/>
        </p:nvSpPr>
        <p:spPr>
          <a:xfrm rot="0">
            <a:off x="2048822" y="8519614"/>
            <a:ext cx="14948865" cy="481928"/>
          </a:xfrm>
          <a:prstGeom prst="rect">
            <a:avLst/>
          </a:prstGeom>
        </p:spPr>
        <p:txBody>
          <a:bodyPr anchor="t" rtlCol="false" tIns="0" lIns="0" bIns="0" rIns="0">
            <a:spAutoFit/>
          </a:bodyPr>
          <a:lstStyle/>
          <a:p>
            <a:pPr algn="l">
              <a:lnSpc>
                <a:spcPts val="1932"/>
              </a:lnSpc>
            </a:pPr>
            <a:r>
              <a:rPr lang="en-US" sz="1710" i="true">
                <a:solidFill>
                  <a:srgbClr val="000000"/>
                </a:solidFill>
                <a:latin typeface="HK Grotesk Italics"/>
                <a:ea typeface="HK Grotesk Italics"/>
                <a:cs typeface="HK Grotesk Italics"/>
                <a:sym typeface="HK Grotesk Italics"/>
              </a:rPr>
              <a:t>Au</a:t>
            </a:r>
            <a:r>
              <a:rPr lang="en-US" sz="1710" i="true">
                <a:solidFill>
                  <a:srgbClr val="000000"/>
                </a:solidFill>
                <a:latin typeface="HK Grotesk Italics"/>
                <a:ea typeface="HK Grotesk Italics"/>
                <a:cs typeface="HK Grotesk Italics"/>
                <a:sym typeface="HK Grotesk Italics"/>
              </a:rPr>
              <a:t>tomating booking with secure online payments, QR-based validation, and a user-friendly interface streamlines event management by reducing manual effort while ensuring faster, safer, and more reliable user transactions.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43011" y="2486402"/>
            <a:ext cx="1064054" cy="1080715"/>
          </a:xfrm>
          <a:custGeom>
            <a:avLst/>
            <a:gdLst/>
            <a:ahLst/>
            <a:cxnLst/>
            <a:rect r="r" b="b" t="t" l="l"/>
            <a:pathLst>
              <a:path h="1080715" w="1064054">
                <a:moveTo>
                  <a:pt x="0" y="0"/>
                </a:moveTo>
                <a:lnTo>
                  <a:pt x="1064054" y="0"/>
                </a:lnTo>
                <a:lnTo>
                  <a:pt x="1064054" y="1080715"/>
                </a:lnTo>
                <a:lnTo>
                  <a:pt x="0" y="1080715"/>
                </a:lnTo>
                <a:lnTo>
                  <a:pt x="0" y="0"/>
                </a:lnTo>
                <a:close/>
              </a:path>
            </a:pathLst>
          </a:custGeom>
          <a:blipFill>
            <a:blip r:embed="rId2"/>
            <a:stretch>
              <a:fillRect l="0" t="0" r="0" b="0"/>
            </a:stretch>
          </a:blipFill>
        </p:spPr>
      </p:sp>
      <p:sp>
        <p:nvSpPr>
          <p:cNvPr name="Freeform 3" id="3"/>
          <p:cNvSpPr/>
          <p:nvPr/>
        </p:nvSpPr>
        <p:spPr>
          <a:xfrm flipH="false" flipV="false" rot="0">
            <a:off x="14839097" y="2311142"/>
            <a:ext cx="920903" cy="1111195"/>
          </a:xfrm>
          <a:custGeom>
            <a:avLst/>
            <a:gdLst/>
            <a:ahLst/>
            <a:cxnLst/>
            <a:rect r="r" b="b" t="t" l="l"/>
            <a:pathLst>
              <a:path h="1111195" w="920903">
                <a:moveTo>
                  <a:pt x="0" y="0"/>
                </a:moveTo>
                <a:lnTo>
                  <a:pt x="920903" y="0"/>
                </a:lnTo>
                <a:lnTo>
                  <a:pt x="920903" y="1111195"/>
                </a:lnTo>
                <a:lnTo>
                  <a:pt x="0" y="1111195"/>
                </a:lnTo>
                <a:lnTo>
                  <a:pt x="0" y="0"/>
                </a:lnTo>
                <a:close/>
              </a:path>
            </a:pathLst>
          </a:custGeom>
          <a:blipFill>
            <a:blip r:embed="rId3"/>
            <a:stretch>
              <a:fillRect l="0" t="0" r="0" b="0"/>
            </a:stretch>
          </a:blipFill>
        </p:spPr>
      </p:sp>
      <p:sp>
        <p:nvSpPr>
          <p:cNvPr name="Freeform 4" id="4"/>
          <p:cNvSpPr/>
          <p:nvPr/>
        </p:nvSpPr>
        <p:spPr>
          <a:xfrm flipH="false" flipV="false" rot="0">
            <a:off x="0" y="8377242"/>
            <a:ext cx="18288000" cy="2679378"/>
          </a:xfrm>
          <a:custGeom>
            <a:avLst/>
            <a:gdLst/>
            <a:ahLst/>
            <a:cxnLst/>
            <a:rect r="r" b="b" t="t" l="l"/>
            <a:pathLst>
              <a:path h="2679378" w="18288000">
                <a:moveTo>
                  <a:pt x="0" y="0"/>
                </a:moveTo>
                <a:lnTo>
                  <a:pt x="18288000" y="0"/>
                </a:lnTo>
                <a:lnTo>
                  <a:pt x="18288000" y="2679378"/>
                </a:lnTo>
                <a:lnTo>
                  <a:pt x="0" y="2679378"/>
                </a:lnTo>
                <a:lnTo>
                  <a:pt x="0" y="0"/>
                </a:lnTo>
                <a:close/>
              </a:path>
            </a:pathLst>
          </a:custGeom>
          <a:blipFill>
            <a:blip r:embed="rId4"/>
            <a:stretch>
              <a:fillRect l="0" t="-79715" r="0" b="-275315"/>
            </a:stretch>
          </a:blipFill>
        </p:spPr>
      </p:sp>
      <p:sp>
        <p:nvSpPr>
          <p:cNvPr name="TextBox 5" id="5"/>
          <p:cNvSpPr txBox="true"/>
          <p:nvPr/>
        </p:nvSpPr>
        <p:spPr>
          <a:xfrm rot="0">
            <a:off x="1084632" y="1123950"/>
            <a:ext cx="8115300"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Existing System</a:t>
            </a:r>
          </a:p>
        </p:txBody>
      </p:sp>
      <p:sp>
        <p:nvSpPr>
          <p:cNvPr name="TextBox 6" id="6"/>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FFFFFF"/>
                </a:solidFill>
                <a:latin typeface="Open Sauce"/>
                <a:ea typeface="Open Sauce"/>
                <a:cs typeface="Open Sauce"/>
                <a:sym typeface="Open Sauce"/>
              </a:rPr>
              <a:t>5</a:t>
            </a:r>
          </a:p>
        </p:txBody>
      </p:sp>
      <p:sp>
        <p:nvSpPr>
          <p:cNvPr name="TextBox 7" id="7"/>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batch 09</a:t>
            </a:r>
          </a:p>
        </p:txBody>
      </p:sp>
      <p:sp>
        <p:nvSpPr>
          <p:cNvPr name="TextBox 8" id="8"/>
          <p:cNvSpPr txBox="true"/>
          <p:nvPr/>
        </p:nvSpPr>
        <p:spPr>
          <a:xfrm rot="0">
            <a:off x="1084632" y="3553782"/>
            <a:ext cx="3580812"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Manual Ticket Booking</a:t>
            </a:r>
          </a:p>
        </p:txBody>
      </p:sp>
      <p:sp>
        <p:nvSpPr>
          <p:cNvPr name="TextBox 9" id="9"/>
          <p:cNvSpPr txBox="true"/>
          <p:nvPr/>
        </p:nvSpPr>
        <p:spPr>
          <a:xfrm rot="0">
            <a:off x="1084632" y="4123377"/>
            <a:ext cx="4355740" cy="370903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In th</a:t>
            </a:r>
            <a:r>
              <a:rPr lang="en-US" sz="2100">
                <a:solidFill>
                  <a:srgbClr val="331B0D"/>
                </a:solidFill>
                <a:latin typeface="Open Sauce"/>
                <a:ea typeface="Open Sauce"/>
                <a:cs typeface="Open Sauce"/>
                <a:sym typeface="Open Sauce"/>
              </a:rPr>
              <a:t>e existing system, ticket booking is handled manually at physical counters using paper records. This approach requires more human effort, increases paperwork, and consumes more time. Manual handling often leads to errors, misplaced records, and difficulty managing bookings during peak event demand.</a:t>
            </a:r>
          </a:p>
        </p:txBody>
      </p:sp>
      <p:sp>
        <p:nvSpPr>
          <p:cNvPr name="TextBox 10" id="10"/>
          <p:cNvSpPr txBox="true"/>
          <p:nvPr/>
        </p:nvSpPr>
        <p:spPr>
          <a:xfrm rot="0">
            <a:off x="7129331" y="3374712"/>
            <a:ext cx="279265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Long Waiting Time</a:t>
            </a:r>
          </a:p>
        </p:txBody>
      </p:sp>
      <p:sp>
        <p:nvSpPr>
          <p:cNvPr name="Freeform 11" id="11"/>
          <p:cNvSpPr/>
          <p:nvPr/>
        </p:nvSpPr>
        <p:spPr>
          <a:xfrm flipH="false" flipV="false" rot="0">
            <a:off x="8077835" y="2486402"/>
            <a:ext cx="895643" cy="1080715"/>
          </a:xfrm>
          <a:custGeom>
            <a:avLst/>
            <a:gdLst/>
            <a:ahLst/>
            <a:cxnLst/>
            <a:rect r="r" b="b" t="t" l="l"/>
            <a:pathLst>
              <a:path h="1080715" w="895643">
                <a:moveTo>
                  <a:pt x="0" y="0"/>
                </a:moveTo>
                <a:lnTo>
                  <a:pt x="895642" y="0"/>
                </a:lnTo>
                <a:lnTo>
                  <a:pt x="895642" y="1080715"/>
                </a:lnTo>
                <a:lnTo>
                  <a:pt x="0" y="1080715"/>
                </a:lnTo>
                <a:lnTo>
                  <a:pt x="0" y="0"/>
                </a:lnTo>
                <a:close/>
              </a:path>
            </a:pathLst>
          </a:custGeom>
          <a:blipFill>
            <a:blip r:embed="rId5"/>
            <a:stretch>
              <a:fillRect l="0" t="-12312" r="0" b="-12312"/>
            </a:stretch>
          </a:blipFill>
        </p:spPr>
      </p:sp>
      <p:sp>
        <p:nvSpPr>
          <p:cNvPr name="TextBox 12" id="12"/>
          <p:cNvSpPr txBox="true"/>
          <p:nvPr/>
        </p:nvSpPr>
        <p:spPr>
          <a:xfrm rot="0">
            <a:off x="7129331" y="3963357"/>
            <a:ext cx="4355740" cy="40805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Users ar</a:t>
            </a:r>
            <a:r>
              <a:rPr lang="en-US" sz="2100">
                <a:solidFill>
                  <a:srgbClr val="331B0D"/>
                </a:solidFill>
                <a:latin typeface="Open Sauce"/>
                <a:ea typeface="Open Sauce"/>
                <a:cs typeface="Open Sauce"/>
                <a:sym typeface="Open Sauce"/>
              </a:rPr>
              <a:t>e required to stand in long queues to purchase tickets in traditional systems. This causes inconvenience, wastes valuable time, and leads to overcrowding at ticket counters. During popular events, long waiting times reduce customer satisfaction and make the ticket booking experience stressful and inefficient.</a:t>
            </a:r>
          </a:p>
        </p:txBody>
      </p:sp>
      <p:sp>
        <p:nvSpPr>
          <p:cNvPr name="TextBox 13" id="13"/>
          <p:cNvSpPr txBox="true"/>
          <p:nvPr/>
        </p:nvSpPr>
        <p:spPr>
          <a:xfrm rot="0">
            <a:off x="13339798" y="3374712"/>
            <a:ext cx="3919502"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Payment Handling Issues</a:t>
            </a:r>
          </a:p>
        </p:txBody>
      </p:sp>
      <p:sp>
        <p:nvSpPr>
          <p:cNvPr name="TextBox 14" id="14"/>
          <p:cNvSpPr txBox="true"/>
          <p:nvPr/>
        </p:nvSpPr>
        <p:spPr>
          <a:xfrm rot="0">
            <a:off x="13339798" y="3963357"/>
            <a:ext cx="4355740" cy="40805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Ex</a:t>
            </a:r>
            <a:r>
              <a:rPr lang="en-US" sz="2100">
                <a:solidFill>
                  <a:srgbClr val="331B0D"/>
                </a:solidFill>
                <a:latin typeface="Open Sauce"/>
                <a:ea typeface="Open Sauce"/>
                <a:cs typeface="Open Sauce"/>
                <a:sym typeface="Open Sauce"/>
              </a:rPr>
              <a:t>isting systems mostly rely on cash payments or basic transaction methods. This creates problems such as delayed payment confirmation, billing mistakes, lack of proper transaction records, and difficulty processing refunds. Payment handling issues reduce trust and make financial management difficult for event organizers.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123950"/>
            <a:ext cx="8115300"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Proposed System</a:t>
            </a:r>
          </a:p>
        </p:txBody>
      </p:sp>
      <p:sp>
        <p:nvSpPr>
          <p:cNvPr name="TextBox 3" id="3"/>
          <p:cNvSpPr txBox="true"/>
          <p:nvPr/>
        </p:nvSpPr>
        <p:spPr>
          <a:xfrm rot="0">
            <a:off x="17125950" y="8984615"/>
            <a:ext cx="133350"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6</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batch 09</a:t>
            </a:r>
          </a:p>
        </p:txBody>
      </p:sp>
      <p:grpSp>
        <p:nvGrpSpPr>
          <p:cNvPr name="Group 5" id="5"/>
          <p:cNvGrpSpPr/>
          <p:nvPr/>
        </p:nvGrpSpPr>
        <p:grpSpPr>
          <a:xfrm rot="0">
            <a:off x="0" y="3154598"/>
            <a:ext cx="6817607" cy="1543050"/>
            <a:chOff x="0" y="0"/>
            <a:chExt cx="1795584" cy="406400"/>
          </a:xfrm>
        </p:grpSpPr>
        <p:sp>
          <p:nvSpPr>
            <p:cNvPr name="Freeform 6" id="6"/>
            <p:cNvSpPr/>
            <p:nvPr/>
          </p:nvSpPr>
          <p:spPr>
            <a:xfrm flipH="false" flipV="false" rot="0">
              <a:off x="0" y="0"/>
              <a:ext cx="1795584" cy="406400"/>
            </a:xfrm>
            <a:custGeom>
              <a:avLst/>
              <a:gdLst/>
              <a:ahLst/>
              <a:cxnLst/>
              <a:rect r="r" b="b" t="t" l="l"/>
              <a:pathLst>
                <a:path h="406400" w="1795584">
                  <a:moveTo>
                    <a:pt x="1592384" y="0"/>
                  </a:moveTo>
                  <a:lnTo>
                    <a:pt x="0" y="0"/>
                  </a:lnTo>
                  <a:lnTo>
                    <a:pt x="0" y="406400"/>
                  </a:lnTo>
                  <a:lnTo>
                    <a:pt x="1592384" y="406400"/>
                  </a:lnTo>
                  <a:lnTo>
                    <a:pt x="1795584" y="203200"/>
                  </a:lnTo>
                  <a:lnTo>
                    <a:pt x="1592384" y="0"/>
                  </a:lnTo>
                  <a:close/>
                </a:path>
              </a:pathLst>
            </a:custGeom>
            <a:solidFill>
              <a:srgbClr val="8C7753"/>
            </a:solidFill>
          </p:spPr>
        </p:sp>
        <p:sp>
          <p:nvSpPr>
            <p:cNvPr name="TextBox 7" id="7"/>
            <p:cNvSpPr txBox="true"/>
            <p:nvPr/>
          </p:nvSpPr>
          <p:spPr>
            <a:xfrm>
              <a:off x="0" y="-47625"/>
              <a:ext cx="1681284" cy="454025"/>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6074871" y="3154598"/>
            <a:ext cx="7010460" cy="1543050"/>
            <a:chOff x="0" y="0"/>
            <a:chExt cx="1846376" cy="406400"/>
          </a:xfrm>
        </p:grpSpPr>
        <p:sp>
          <p:nvSpPr>
            <p:cNvPr name="Freeform 9" id="9"/>
            <p:cNvSpPr/>
            <p:nvPr/>
          </p:nvSpPr>
          <p:spPr>
            <a:xfrm flipH="false" flipV="false" rot="0">
              <a:off x="0" y="0"/>
              <a:ext cx="1846376" cy="406400"/>
            </a:xfrm>
            <a:custGeom>
              <a:avLst/>
              <a:gdLst/>
              <a:ahLst/>
              <a:cxnLst/>
              <a:rect r="r" b="b" t="t" l="l"/>
              <a:pathLst>
                <a:path h="406400" w="1846376">
                  <a:moveTo>
                    <a:pt x="0" y="0"/>
                  </a:moveTo>
                  <a:lnTo>
                    <a:pt x="1643176" y="0"/>
                  </a:lnTo>
                  <a:lnTo>
                    <a:pt x="1846376" y="203200"/>
                  </a:lnTo>
                  <a:lnTo>
                    <a:pt x="1643176" y="406400"/>
                  </a:lnTo>
                  <a:lnTo>
                    <a:pt x="0" y="406400"/>
                  </a:lnTo>
                  <a:lnTo>
                    <a:pt x="203200" y="203200"/>
                  </a:lnTo>
                  <a:lnTo>
                    <a:pt x="0" y="0"/>
                  </a:lnTo>
                  <a:close/>
                </a:path>
              </a:pathLst>
            </a:custGeom>
            <a:solidFill>
              <a:srgbClr val="8C7753">
                <a:alpha val="80000"/>
              </a:srgbClr>
            </a:solidFill>
          </p:spPr>
        </p:sp>
        <p:sp>
          <p:nvSpPr>
            <p:cNvPr name="TextBox 10" id="10"/>
            <p:cNvSpPr txBox="true"/>
            <p:nvPr/>
          </p:nvSpPr>
          <p:spPr>
            <a:xfrm>
              <a:off x="177800" y="-47625"/>
              <a:ext cx="1592376" cy="454025"/>
            </a:xfrm>
            <a:prstGeom prst="rect">
              <a:avLst/>
            </a:prstGeom>
          </p:spPr>
          <p:txBody>
            <a:bodyPr anchor="ctr" rtlCol="false" tIns="50800" lIns="50800" bIns="50800" rIns="50800"/>
            <a:lstStyle/>
            <a:p>
              <a:pPr algn="ctr">
                <a:lnSpc>
                  <a:spcPts val="2940"/>
                </a:lnSpc>
              </a:pPr>
            </a:p>
          </p:txBody>
        </p:sp>
      </p:grpSp>
      <p:grpSp>
        <p:nvGrpSpPr>
          <p:cNvPr name="Group 11" id="11"/>
          <p:cNvGrpSpPr/>
          <p:nvPr/>
        </p:nvGrpSpPr>
        <p:grpSpPr>
          <a:xfrm rot="0">
            <a:off x="12350677" y="3154598"/>
            <a:ext cx="5937323" cy="1543050"/>
            <a:chOff x="0" y="0"/>
            <a:chExt cx="1563739" cy="406400"/>
          </a:xfrm>
        </p:grpSpPr>
        <p:sp>
          <p:nvSpPr>
            <p:cNvPr name="Freeform 12" id="12"/>
            <p:cNvSpPr/>
            <p:nvPr/>
          </p:nvSpPr>
          <p:spPr>
            <a:xfrm flipH="false" flipV="false" rot="0">
              <a:off x="0" y="0"/>
              <a:ext cx="1563739" cy="406400"/>
            </a:xfrm>
            <a:custGeom>
              <a:avLst/>
              <a:gdLst/>
              <a:ahLst/>
              <a:cxnLst/>
              <a:rect r="r" b="b" t="t" l="l"/>
              <a:pathLst>
                <a:path h="406400" w="1563739">
                  <a:moveTo>
                    <a:pt x="0" y="0"/>
                  </a:moveTo>
                  <a:lnTo>
                    <a:pt x="1360539" y="0"/>
                  </a:lnTo>
                  <a:lnTo>
                    <a:pt x="1563739" y="203200"/>
                  </a:lnTo>
                  <a:lnTo>
                    <a:pt x="1360539" y="406400"/>
                  </a:lnTo>
                  <a:lnTo>
                    <a:pt x="0" y="406400"/>
                  </a:lnTo>
                  <a:lnTo>
                    <a:pt x="203200" y="203200"/>
                  </a:lnTo>
                  <a:lnTo>
                    <a:pt x="0" y="0"/>
                  </a:lnTo>
                  <a:close/>
                </a:path>
              </a:pathLst>
            </a:custGeom>
            <a:solidFill>
              <a:srgbClr val="8C7753">
                <a:alpha val="60000"/>
              </a:srgbClr>
            </a:solidFill>
          </p:spPr>
        </p:sp>
        <p:sp>
          <p:nvSpPr>
            <p:cNvPr name="TextBox 13" id="13"/>
            <p:cNvSpPr txBox="true"/>
            <p:nvPr/>
          </p:nvSpPr>
          <p:spPr>
            <a:xfrm>
              <a:off x="177800" y="-47625"/>
              <a:ext cx="1309739" cy="454025"/>
            </a:xfrm>
            <a:prstGeom prst="rect">
              <a:avLst/>
            </a:prstGeom>
          </p:spPr>
          <p:txBody>
            <a:bodyPr anchor="ctr" rtlCol="false" tIns="50800" lIns="50800" bIns="50800" rIns="50800"/>
            <a:lstStyle/>
            <a:p>
              <a:pPr algn="ctr">
                <a:lnSpc>
                  <a:spcPts val="2940"/>
                </a:lnSpc>
              </a:pPr>
            </a:p>
          </p:txBody>
        </p:sp>
      </p:grpSp>
      <p:sp>
        <p:nvSpPr>
          <p:cNvPr name="TextBox 14" id="14"/>
          <p:cNvSpPr txBox="true"/>
          <p:nvPr/>
        </p:nvSpPr>
        <p:spPr>
          <a:xfrm rot="0">
            <a:off x="1075353" y="3703243"/>
            <a:ext cx="4262434" cy="365760"/>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Online Ticket Book</a:t>
            </a:r>
            <a:r>
              <a:rPr lang="en-US" sz="2100">
                <a:solidFill>
                  <a:srgbClr val="FFFFFF"/>
                </a:solidFill>
                <a:latin typeface="Open Sauce"/>
                <a:ea typeface="Open Sauce"/>
                <a:cs typeface="Open Sauce"/>
                <a:sym typeface="Open Sauce"/>
              </a:rPr>
              <a:t>ing System</a:t>
            </a:r>
          </a:p>
        </p:txBody>
      </p:sp>
      <p:sp>
        <p:nvSpPr>
          <p:cNvPr name="TextBox 15" id="15"/>
          <p:cNvSpPr txBox="true"/>
          <p:nvPr/>
        </p:nvSpPr>
        <p:spPr>
          <a:xfrm rot="0">
            <a:off x="7340385" y="3703243"/>
            <a:ext cx="4732974" cy="365760"/>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Secu</a:t>
            </a:r>
            <a:r>
              <a:rPr lang="en-US" sz="2100">
                <a:solidFill>
                  <a:srgbClr val="FFFFFF"/>
                </a:solidFill>
                <a:latin typeface="Open Sauce"/>
                <a:ea typeface="Open Sauce"/>
                <a:cs typeface="Open Sauce"/>
                <a:sym typeface="Open Sauce"/>
              </a:rPr>
              <a:t>re Payment and QR Validation</a:t>
            </a:r>
          </a:p>
        </p:txBody>
      </p:sp>
      <p:sp>
        <p:nvSpPr>
          <p:cNvPr name="TextBox 16" id="16"/>
          <p:cNvSpPr txBox="true"/>
          <p:nvPr/>
        </p:nvSpPr>
        <p:spPr>
          <a:xfrm rot="0">
            <a:off x="13197129" y="3703243"/>
            <a:ext cx="4814245" cy="36576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Real-Time</a:t>
            </a:r>
            <a:r>
              <a:rPr lang="en-US" sz="2100">
                <a:solidFill>
                  <a:srgbClr val="331B0D"/>
                </a:solidFill>
                <a:latin typeface="Open Sauce"/>
                <a:ea typeface="Open Sauce"/>
                <a:cs typeface="Open Sauce"/>
                <a:sym typeface="Open Sauce"/>
              </a:rPr>
              <a:t> Updates and Management</a:t>
            </a:r>
          </a:p>
        </p:txBody>
      </p:sp>
      <p:sp>
        <p:nvSpPr>
          <p:cNvPr name="TextBox 17" id="17"/>
          <p:cNvSpPr txBox="true"/>
          <p:nvPr/>
        </p:nvSpPr>
        <p:spPr>
          <a:xfrm rot="0">
            <a:off x="1230934" y="5709396"/>
            <a:ext cx="4355740" cy="25946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The proposed system allows users</a:t>
            </a:r>
            <a:r>
              <a:rPr lang="en-US" sz="2100">
                <a:solidFill>
                  <a:srgbClr val="331B0D"/>
                </a:solidFill>
                <a:latin typeface="Open Sauce"/>
                <a:ea typeface="Open Sauce"/>
                <a:cs typeface="Open Sauce"/>
                <a:sym typeface="Open Sauce"/>
              </a:rPr>
              <a:t> to browse events, check ticket availability, and book tickets online easily, eliminating manual processes and providing faster, more convenient access to event services.</a:t>
            </a:r>
          </a:p>
        </p:txBody>
      </p:sp>
      <p:sp>
        <p:nvSpPr>
          <p:cNvPr name="TextBox 18" id="18"/>
          <p:cNvSpPr txBox="true"/>
          <p:nvPr/>
        </p:nvSpPr>
        <p:spPr>
          <a:xfrm rot="0">
            <a:off x="6966130" y="5709396"/>
            <a:ext cx="4355740" cy="296608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The system supports secure online</a:t>
            </a:r>
            <a:r>
              <a:rPr lang="en-US" sz="2100">
                <a:solidFill>
                  <a:srgbClr val="331B0D"/>
                </a:solidFill>
                <a:latin typeface="Open Sauce"/>
                <a:ea typeface="Open Sauce"/>
                <a:cs typeface="Open Sauce"/>
                <a:sym typeface="Open Sauce"/>
              </a:rPr>
              <a:t> payments with instant confirmation and generates QR codes for tickets, ensuring safe transactions, preventing duplicate entry, and enabling smooth and secure event access.</a:t>
            </a:r>
          </a:p>
        </p:txBody>
      </p:sp>
      <p:sp>
        <p:nvSpPr>
          <p:cNvPr name="TextBox 19" id="19"/>
          <p:cNvSpPr txBox="true"/>
          <p:nvPr/>
        </p:nvSpPr>
        <p:spPr>
          <a:xfrm rot="0">
            <a:off x="12922610" y="5709396"/>
            <a:ext cx="4355740" cy="25946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The</a:t>
            </a:r>
            <a:r>
              <a:rPr lang="en-US" sz="2100">
                <a:solidFill>
                  <a:srgbClr val="331B0D"/>
                </a:solidFill>
                <a:latin typeface="Open Sauce"/>
                <a:ea typeface="Open Sauce"/>
                <a:cs typeface="Open Sauce"/>
                <a:sym typeface="Open Sauce"/>
              </a:rPr>
              <a:t> proposed system provides real-time updates on ticket availability, booking status, and event details, helping users and administrators manage events efficiently and reducing confusion or overbooking issues.</a:t>
            </a:r>
          </a:p>
        </p:txBody>
      </p:sp>
      <p:sp>
        <p:nvSpPr>
          <p:cNvPr name="AutoShape 20" id="20"/>
          <p:cNvSpPr/>
          <p:nvPr/>
        </p:nvSpPr>
        <p:spPr>
          <a:xfrm>
            <a:off x="3187520" y="4697648"/>
            <a:ext cx="0" cy="861252"/>
          </a:xfrm>
          <a:prstGeom prst="line">
            <a:avLst/>
          </a:prstGeom>
          <a:ln cap="flat" w="38100">
            <a:solidFill>
              <a:srgbClr val="8C7753"/>
            </a:solidFill>
            <a:prstDash val="solid"/>
            <a:headEnd type="none" len="sm" w="sm"/>
            <a:tailEnd type="arrow" len="sm" w="med"/>
          </a:ln>
        </p:spPr>
      </p:sp>
      <p:sp>
        <p:nvSpPr>
          <p:cNvPr name="AutoShape 21" id="21"/>
          <p:cNvSpPr/>
          <p:nvPr/>
        </p:nvSpPr>
        <p:spPr>
          <a:xfrm>
            <a:off x="9144000" y="4697648"/>
            <a:ext cx="0" cy="861252"/>
          </a:xfrm>
          <a:prstGeom prst="line">
            <a:avLst/>
          </a:prstGeom>
          <a:ln cap="flat" w="38100">
            <a:solidFill>
              <a:srgbClr val="8C7753">
                <a:alpha val="69804"/>
              </a:srgbClr>
            </a:solidFill>
            <a:prstDash val="solid"/>
            <a:headEnd type="none" len="sm" w="sm"/>
            <a:tailEnd type="arrow" len="sm" w="med"/>
          </a:ln>
        </p:spPr>
      </p:sp>
      <p:sp>
        <p:nvSpPr>
          <p:cNvPr name="AutoShape 22" id="22"/>
          <p:cNvSpPr/>
          <p:nvPr/>
        </p:nvSpPr>
        <p:spPr>
          <a:xfrm>
            <a:off x="15100480" y="4697648"/>
            <a:ext cx="0" cy="861252"/>
          </a:xfrm>
          <a:prstGeom prst="line">
            <a:avLst/>
          </a:prstGeom>
          <a:ln cap="flat" w="38100">
            <a:solidFill>
              <a:srgbClr val="8C7753">
                <a:alpha val="40000"/>
              </a:srgbClr>
            </a:solidFill>
            <a:prstDash val="solid"/>
            <a:headEnd type="none" len="sm" w="sm"/>
            <a:tailEnd type="arrow" len="sm" w="med"/>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028700" y="1145360"/>
            <a:ext cx="8115300"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System Modules</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7</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batch 09</a:t>
            </a:r>
          </a:p>
        </p:txBody>
      </p:sp>
      <p:grpSp>
        <p:nvGrpSpPr>
          <p:cNvPr name="Group 5" id="5"/>
          <p:cNvGrpSpPr/>
          <p:nvPr/>
        </p:nvGrpSpPr>
        <p:grpSpPr>
          <a:xfrm rot="0">
            <a:off x="1028700" y="1914980"/>
            <a:ext cx="6727964" cy="3292487"/>
            <a:chOff x="0" y="0"/>
            <a:chExt cx="3703838" cy="1812560"/>
          </a:xfrm>
        </p:grpSpPr>
        <p:sp>
          <p:nvSpPr>
            <p:cNvPr name="Freeform 6" id="6"/>
            <p:cNvSpPr/>
            <p:nvPr/>
          </p:nvSpPr>
          <p:spPr>
            <a:xfrm flipH="false" flipV="false" rot="0">
              <a:off x="0" y="0"/>
              <a:ext cx="3703838" cy="1812560"/>
            </a:xfrm>
            <a:custGeom>
              <a:avLst/>
              <a:gdLst/>
              <a:ahLst/>
              <a:cxnLst/>
              <a:rect r="r" b="b" t="t" l="l"/>
              <a:pathLst>
                <a:path h="1812560" w="3703838">
                  <a:moveTo>
                    <a:pt x="10356" y="0"/>
                  </a:moveTo>
                  <a:lnTo>
                    <a:pt x="3693482" y="0"/>
                  </a:lnTo>
                  <a:cubicBezTo>
                    <a:pt x="3696229" y="0"/>
                    <a:pt x="3698863" y="1091"/>
                    <a:pt x="3700805" y="3033"/>
                  </a:cubicBezTo>
                  <a:cubicBezTo>
                    <a:pt x="3702747" y="4976"/>
                    <a:pt x="3703838" y="7610"/>
                    <a:pt x="3703838" y="10356"/>
                  </a:cubicBezTo>
                  <a:lnTo>
                    <a:pt x="3703838" y="1802204"/>
                  </a:lnTo>
                  <a:cubicBezTo>
                    <a:pt x="3703838" y="1804951"/>
                    <a:pt x="3702747" y="1807585"/>
                    <a:pt x="3700805" y="1809527"/>
                  </a:cubicBezTo>
                  <a:cubicBezTo>
                    <a:pt x="3698863" y="1811469"/>
                    <a:pt x="3696229" y="1812560"/>
                    <a:pt x="3693482" y="1812560"/>
                  </a:cubicBezTo>
                  <a:lnTo>
                    <a:pt x="10356" y="1812560"/>
                  </a:lnTo>
                  <a:cubicBezTo>
                    <a:pt x="7610" y="1812560"/>
                    <a:pt x="4976" y="1811469"/>
                    <a:pt x="3033" y="1809527"/>
                  </a:cubicBezTo>
                  <a:cubicBezTo>
                    <a:pt x="1091" y="1807585"/>
                    <a:pt x="0" y="1804951"/>
                    <a:pt x="0" y="1802204"/>
                  </a:cubicBezTo>
                  <a:lnTo>
                    <a:pt x="0" y="10356"/>
                  </a:lnTo>
                  <a:cubicBezTo>
                    <a:pt x="0" y="7610"/>
                    <a:pt x="1091" y="4976"/>
                    <a:pt x="3033" y="3033"/>
                  </a:cubicBezTo>
                  <a:cubicBezTo>
                    <a:pt x="4976" y="1091"/>
                    <a:pt x="7610" y="0"/>
                    <a:pt x="10356" y="0"/>
                  </a:cubicBezTo>
                  <a:close/>
                </a:path>
              </a:pathLst>
            </a:custGeom>
            <a:solidFill>
              <a:srgbClr val="8C7753">
                <a:alpha val="87843"/>
              </a:srgbClr>
            </a:solidFill>
            <a:ln cap="sq">
              <a:noFill/>
              <a:prstDash val="solid"/>
              <a:miter/>
            </a:ln>
          </p:spPr>
        </p:sp>
        <p:sp>
          <p:nvSpPr>
            <p:cNvPr name="TextBox 7" id="7"/>
            <p:cNvSpPr txBox="true"/>
            <p:nvPr/>
          </p:nvSpPr>
          <p:spPr>
            <a:xfrm>
              <a:off x="0" y="-47625"/>
              <a:ext cx="3703838" cy="1860185"/>
            </a:xfrm>
            <a:prstGeom prst="rect">
              <a:avLst/>
            </a:prstGeom>
          </p:spPr>
          <p:txBody>
            <a:bodyPr anchor="ctr" rtlCol="false" tIns="50800" lIns="50800" bIns="50800" rIns="50800"/>
            <a:lstStyle/>
            <a:p>
              <a:pPr algn="ctr" marL="0" indent="0" lvl="0">
                <a:lnSpc>
                  <a:spcPts val="3587"/>
                </a:lnSpc>
                <a:spcBef>
                  <a:spcPct val="0"/>
                </a:spcBef>
              </a:pPr>
            </a:p>
          </p:txBody>
        </p:sp>
      </p:grpSp>
      <p:sp>
        <p:nvSpPr>
          <p:cNvPr name="Freeform 8" id="8"/>
          <p:cNvSpPr/>
          <p:nvPr/>
        </p:nvSpPr>
        <p:spPr>
          <a:xfrm flipH="false" flipV="false" rot="0">
            <a:off x="1465062" y="2093125"/>
            <a:ext cx="5872250" cy="2575341"/>
          </a:xfrm>
          <a:custGeom>
            <a:avLst/>
            <a:gdLst/>
            <a:ahLst/>
            <a:cxnLst/>
            <a:rect r="r" b="b" t="t" l="l"/>
            <a:pathLst>
              <a:path h="2575341" w="5872250">
                <a:moveTo>
                  <a:pt x="0" y="0"/>
                </a:moveTo>
                <a:lnTo>
                  <a:pt x="5872250" y="0"/>
                </a:lnTo>
                <a:lnTo>
                  <a:pt x="5872250" y="2575341"/>
                </a:lnTo>
                <a:lnTo>
                  <a:pt x="0" y="2575341"/>
                </a:lnTo>
                <a:lnTo>
                  <a:pt x="0" y="0"/>
                </a:lnTo>
                <a:close/>
              </a:path>
            </a:pathLst>
          </a:custGeom>
          <a:blipFill>
            <a:blip r:embed="rId2"/>
            <a:stretch>
              <a:fillRect l="0" t="-4439" r="0" b="-4439"/>
            </a:stretch>
          </a:blipFill>
        </p:spPr>
      </p:sp>
      <p:grpSp>
        <p:nvGrpSpPr>
          <p:cNvPr name="Group 9" id="9"/>
          <p:cNvGrpSpPr/>
          <p:nvPr/>
        </p:nvGrpSpPr>
        <p:grpSpPr>
          <a:xfrm rot="0">
            <a:off x="10345113" y="1801160"/>
            <a:ext cx="6727964" cy="3292487"/>
            <a:chOff x="0" y="0"/>
            <a:chExt cx="3703838" cy="1812560"/>
          </a:xfrm>
        </p:grpSpPr>
        <p:sp>
          <p:nvSpPr>
            <p:cNvPr name="Freeform 10" id="10"/>
            <p:cNvSpPr/>
            <p:nvPr/>
          </p:nvSpPr>
          <p:spPr>
            <a:xfrm flipH="false" flipV="false" rot="0">
              <a:off x="0" y="0"/>
              <a:ext cx="3703838" cy="1812560"/>
            </a:xfrm>
            <a:custGeom>
              <a:avLst/>
              <a:gdLst/>
              <a:ahLst/>
              <a:cxnLst/>
              <a:rect r="r" b="b" t="t" l="l"/>
              <a:pathLst>
                <a:path h="1812560" w="3703838">
                  <a:moveTo>
                    <a:pt x="10356" y="0"/>
                  </a:moveTo>
                  <a:lnTo>
                    <a:pt x="3693482" y="0"/>
                  </a:lnTo>
                  <a:cubicBezTo>
                    <a:pt x="3696229" y="0"/>
                    <a:pt x="3698863" y="1091"/>
                    <a:pt x="3700805" y="3033"/>
                  </a:cubicBezTo>
                  <a:cubicBezTo>
                    <a:pt x="3702747" y="4976"/>
                    <a:pt x="3703838" y="7610"/>
                    <a:pt x="3703838" y="10356"/>
                  </a:cubicBezTo>
                  <a:lnTo>
                    <a:pt x="3703838" y="1802204"/>
                  </a:lnTo>
                  <a:cubicBezTo>
                    <a:pt x="3703838" y="1804951"/>
                    <a:pt x="3702747" y="1807585"/>
                    <a:pt x="3700805" y="1809527"/>
                  </a:cubicBezTo>
                  <a:cubicBezTo>
                    <a:pt x="3698863" y="1811469"/>
                    <a:pt x="3696229" y="1812560"/>
                    <a:pt x="3693482" y="1812560"/>
                  </a:cubicBezTo>
                  <a:lnTo>
                    <a:pt x="10356" y="1812560"/>
                  </a:lnTo>
                  <a:cubicBezTo>
                    <a:pt x="7610" y="1812560"/>
                    <a:pt x="4976" y="1811469"/>
                    <a:pt x="3033" y="1809527"/>
                  </a:cubicBezTo>
                  <a:cubicBezTo>
                    <a:pt x="1091" y="1807585"/>
                    <a:pt x="0" y="1804951"/>
                    <a:pt x="0" y="1802204"/>
                  </a:cubicBezTo>
                  <a:lnTo>
                    <a:pt x="0" y="10356"/>
                  </a:lnTo>
                  <a:cubicBezTo>
                    <a:pt x="0" y="7610"/>
                    <a:pt x="1091" y="4976"/>
                    <a:pt x="3033" y="3033"/>
                  </a:cubicBezTo>
                  <a:cubicBezTo>
                    <a:pt x="4976" y="1091"/>
                    <a:pt x="7610" y="0"/>
                    <a:pt x="10356" y="0"/>
                  </a:cubicBezTo>
                  <a:close/>
                </a:path>
              </a:pathLst>
            </a:custGeom>
            <a:solidFill>
              <a:srgbClr val="8C7753">
                <a:alpha val="87843"/>
              </a:srgbClr>
            </a:solidFill>
            <a:ln cap="sq">
              <a:noFill/>
              <a:prstDash val="solid"/>
              <a:miter/>
            </a:ln>
          </p:spPr>
        </p:sp>
        <p:sp>
          <p:nvSpPr>
            <p:cNvPr name="TextBox 11" id="11"/>
            <p:cNvSpPr txBox="true"/>
            <p:nvPr/>
          </p:nvSpPr>
          <p:spPr>
            <a:xfrm>
              <a:off x="0" y="-47625"/>
              <a:ext cx="3703838" cy="1860185"/>
            </a:xfrm>
            <a:prstGeom prst="rect">
              <a:avLst/>
            </a:prstGeom>
          </p:spPr>
          <p:txBody>
            <a:bodyPr anchor="ctr" rtlCol="false" tIns="50800" lIns="50800" bIns="50800" rIns="50800"/>
            <a:lstStyle/>
            <a:p>
              <a:pPr algn="ctr" marL="0" indent="0" lvl="0">
                <a:lnSpc>
                  <a:spcPts val="3587"/>
                </a:lnSpc>
                <a:spcBef>
                  <a:spcPct val="0"/>
                </a:spcBef>
              </a:pPr>
            </a:p>
          </p:txBody>
        </p:sp>
      </p:grpSp>
      <p:sp>
        <p:nvSpPr>
          <p:cNvPr name="Freeform 12" id="12"/>
          <p:cNvSpPr/>
          <p:nvPr/>
        </p:nvSpPr>
        <p:spPr>
          <a:xfrm flipH="false" flipV="false" rot="0">
            <a:off x="10772970" y="1974851"/>
            <a:ext cx="5872250" cy="2555116"/>
          </a:xfrm>
          <a:custGeom>
            <a:avLst/>
            <a:gdLst/>
            <a:ahLst/>
            <a:cxnLst/>
            <a:rect r="r" b="b" t="t" l="l"/>
            <a:pathLst>
              <a:path h="2555116" w="5872250">
                <a:moveTo>
                  <a:pt x="0" y="0"/>
                </a:moveTo>
                <a:lnTo>
                  <a:pt x="5872250" y="0"/>
                </a:lnTo>
                <a:lnTo>
                  <a:pt x="5872250" y="2555116"/>
                </a:lnTo>
                <a:lnTo>
                  <a:pt x="0" y="2555116"/>
                </a:lnTo>
                <a:lnTo>
                  <a:pt x="0" y="0"/>
                </a:lnTo>
                <a:close/>
              </a:path>
            </a:pathLst>
          </a:custGeom>
          <a:blipFill>
            <a:blip r:embed="rId3"/>
            <a:stretch>
              <a:fillRect l="0" t="-4439" r="0" b="-4439"/>
            </a:stretch>
          </a:blipFill>
        </p:spPr>
      </p:sp>
      <p:grpSp>
        <p:nvGrpSpPr>
          <p:cNvPr name="Group 13" id="13"/>
          <p:cNvGrpSpPr/>
          <p:nvPr/>
        </p:nvGrpSpPr>
        <p:grpSpPr>
          <a:xfrm rot="0">
            <a:off x="1028700" y="5594352"/>
            <a:ext cx="6727964" cy="3292487"/>
            <a:chOff x="0" y="0"/>
            <a:chExt cx="3703838" cy="1812560"/>
          </a:xfrm>
        </p:grpSpPr>
        <p:sp>
          <p:nvSpPr>
            <p:cNvPr name="Freeform 14" id="14"/>
            <p:cNvSpPr/>
            <p:nvPr/>
          </p:nvSpPr>
          <p:spPr>
            <a:xfrm flipH="false" flipV="false" rot="0">
              <a:off x="0" y="0"/>
              <a:ext cx="3703838" cy="1812560"/>
            </a:xfrm>
            <a:custGeom>
              <a:avLst/>
              <a:gdLst/>
              <a:ahLst/>
              <a:cxnLst/>
              <a:rect r="r" b="b" t="t" l="l"/>
              <a:pathLst>
                <a:path h="1812560" w="3703838">
                  <a:moveTo>
                    <a:pt x="10356" y="0"/>
                  </a:moveTo>
                  <a:lnTo>
                    <a:pt x="3693482" y="0"/>
                  </a:lnTo>
                  <a:cubicBezTo>
                    <a:pt x="3696229" y="0"/>
                    <a:pt x="3698863" y="1091"/>
                    <a:pt x="3700805" y="3033"/>
                  </a:cubicBezTo>
                  <a:cubicBezTo>
                    <a:pt x="3702747" y="4976"/>
                    <a:pt x="3703838" y="7610"/>
                    <a:pt x="3703838" y="10356"/>
                  </a:cubicBezTo>
                  <a:lnTo>
                    <a:pt x="3703838" y="1802204"/>
                  </a:lnTo>
                  <a:cubicBezTo>
                    <a:pt x="3703838" y="1804951"/>
                    <a:pt x="3702747" y="1807585"/>
                    <a:pt x="3700805" y="1809527"/>
                  </a:cubicBezTo>
                  <a:cubicBezTo>
                    <a:pt x="3698863" y="1811469"/>
                    <a:pt x="3696229" y="1812560"/>
                    <a:pt x="3693482" y="1812560"/>
                  </a:cubicBezTo>
                  <a:lnTo>
                    <a:pt x="10356" y="1812560"/>
                  </a:lnTo>
                  <a:cubicBezTo>
                    <a:pt x="7610" y="1812560"/>
                    <a:pt x="4976" y="1811469"/>
                    <a:pt x="3033" y="1809527"/>
                  </a:cubicBezTo>
                  <a:cubicBezTo>
                    <a:pt x="1091" y="1807585"/>
                    <a:pt x="0" y="1804951"/>
                    <a:pt x="0" y="1802204"/>
                  </a:cubicBezTo>
                  <a:lnTo>
                    <a:pt x="0" y="10356"/>
                  </a:lnTo>
                  <a:cubicBezTo>
                    <a:pt x="0" y="7610"/>
                    <a:pt x="1091" y="4976"/>
                    <a:pt x="3033" y="3033"/>
                  </a:cubicBezTo>
                  <a:cubicBezTo>
                    <a:pt x="4976" y="1091"/>
                    <a:pt x="7610" y="0"/>
                    <a:pt x="10356" y="0"/>
                  </a:cubicBezTo>
                  <a:close/>
                </a:path>
              </a:pathLst>
            </a:custGeom>
            <a:solidFill>
              <a:srgbClr val="8C7753">
                <a:alpha val="87843"/>
              </a:srgbClr>
            </a:solidFill>
            <a:ln cap="sq">
              <a:noFill/>
              <a:prstDash val="solid"/>
              <a:miter/>
            </a:ln>
          </p:spPr>
        </p:sp>
        <p:sp>
          <p:nvSpPr>
            <p:cNvPr name="TextBox 15" id="15"/>
            <p:cNvSpPr txBox="true"/>
            <p:nvPr/>
          </p:nvSpPr>
          <p:spPr>
            <a:xfrm>
              <a:off x="0" y="-47625"/>
              <a:ext cx="3703838" cy="1860185"/>
            </a:xfrm>
            <a:prstGeom prst="rect">
              <a:avLst/>
            </a:prstGeom>
          </p:spPr>
          <p:txBody>
            <a:bodyPr anchor="ctr" rtlCol="false" tIns="50800" lIns="50800" bIns="50800" rIns="50800"/>
            <a:lstStyle/>
            <a:p>
              <a:pPr algn="ctr" marL="0" indent="0" lvl="0">
                <a:lnSpc>
                  <a:spcPts val="3587"/>
                </a:lnSpc>
                <a:spcBef>
                  <a:spcPct val="0"/>
                </a:spcBef>
              </a:pPr>
            </a:p>
          </p:txBody>
        </p:sp>
      </p:grpSp>
      <p:sp>
        <p:nvSpPr>
          <p:cNvPr name="Freeform 16" id="16"/>
          <p:cNvSpPr/>
          <p:nvPr/>
        </p:nvSpPr>
        <p:spPr>
          <a:xfrm flipH="false" flipV="false" rot="0">
            <a:off x="1456557" y="5801812"/>
            <a:ext cx="5872250" cy="2561857"/>
          </a:xfrm>
          <a:custGeom>
            <a:avLst/>
            <a:gdLst/>
            <a:ahLst/>
            <a:cxnLst/>
            <a:rect r="r" b="b" t="t" l="l"/>
            <a:pathLst>
              <a:path h="2561857" w="5872250">
                <a:moveTo>
                  <a:pt x="0" y="0"/>
                </a:moveTo>
                <a:lnTo>
                  <a:pt x="5872250" y="0"/>
                </a:lnTo>
                <a:lnTo>
                  <a:pt x="5872250" y="2561857"/>
                </a:lnTo>
                <a:lnTo>
                  <a:pt x="0" y="2561857"/>
                </a:lnTo>
                <a:lnTo>
                  <a:pt x="0" y="0"/>
                </a:lnTo>
                <a:close/>
              </a:path>
            </a:pathLst>
          </a:custGeom>
          <a:blipFill>
            <a:blip r:embed="rId4"/>
            <a:stretch>
              <a:fillRect l="0" t="-4439" r="0" b="-4439"/>
            </a:stretch>
          </a:blipFill>
        </p:spPr>
      </p:sp>
      <p:grpSp>
        <p:nvGrpSpPr>
          <p:cNvPr name="Group 17" id="17"/>
          <p:cNvGrpSpPr/>
          <p:nvPr/>
        </p:nvGrpSpPr>
        <p:grpSpPr>
          <a:xfrm rot="0">
            <a:off x="10345113" y="5340683"/>
            <a:ext cx="6727964" cy="3799825"/>
            <a:chOff x="0" y="0"/>
            <a:chExt cx="3703838" cy="2091857"/>
          </a:xfrm>
        </p:grpSpPr>
        <p:sp>
          <p:nvSpPr>
            <p:cNvPr name="Freeform 18" id="18"/>
            <p:cNvSpPr/>
            <p:nvPr/>
          </p:nvSpPr>
          <p:spPr>
            <a:xfrm flipH="false" flipV="false" rot="0">
              <a:off x="0" y="0"/>
              <a:ext cx="3703838" cy="2091857"/>
            </a:xfrm>
            <a:custGeom>
              <a:avLst/>
              <a:gdLst/>
              <a:ahLst/>
              <a:cxnLst/>
              <a:rect r="r" b="b" t="t" l="l"/>
              <a:pathLst>
                <a:path h="2091857" w="3703838">
                  <a:moveTo>
                    <a:pt x="10356" y="0"/>
                  </a:moveTo>
                  <a:lnTo>
                    <a:pt x="3693482" y="0"/>
                  </a:lnTo>
                  <a:cubicBezTo>
                    <a:pt x="3696229" y="0"/>
                    <a:pt x="3698863" y="1091"/>
                    <a:pt x="3700805" y="3033"/>
                  </a:cubicBezTo>
                  <a:cubicBezTo>
                    <a:pt x="3702747" y="4976"/>
                    <a:pt x="3703838" y="7610"/>
                    <a:pt x="3703838" y="10356"/>
                  </a:cubicBezTo>
                  <a:lnTo>
                    <a:pt x="3703838" y="2081500"/>
                  </a:lnTo>
                  <a:cubicBezTo>
                    <a:pt x="3703838" y="2084247"/>
                    <a:pt x="3702747" y="2086881"/>
                    <a:pt x="3700805" y="2088823"/>
                  </a:cubicBezTo>
                  <a:cubicBezTo>
                    <a:pt x="3698863" y="2090766"/>
                    <a:pt x="3696229" y="2091857"/>
                    <a:pt x="3693482" y="2091857"/>
                  </a:cubicBezTo>
                  <a:lnTo>
                    <a:pt x="10356" y="2091857"/>
                  </a:lnTo>
                  <a:cubicBezTo>
                    <a:pt x="7610" y="2091857"/>
                    <a:pt x="4976" y="2090766"/>
                    <a:pt x="3033" y="2088823"/>
                  </a:cubicBezTo>
                  <a:cubicBezTo>
                    <a:pt x="1091" y="2086881"/>
                    <a:pt x="0" y="2084247"/>
                    <a:pt x="0" y="2081500"/>
                  </a:cubicBezTo>
                  <a:lnTo>
                    <a:pt x="0" y="10356"/>
                  </a:lnTo>
                  <a:cubicBezTo>
                    <a:pt x="0" y="7610"/>
                    <a:pt x="1091" y="4976"/>
                    <a:pt x="3033" y="3033"/>
                  </a:cubicBezTo>
                  <a:cubicBezTo>
                    <a:pt x="4976" y="1091"/>
                    <a:pt x="7610" y="0"/>
                    <a:pt x="10356" y="0"/>
                  </a:cubicBezTo>
                  <a:close/>
                </a:path>
              </a:pathLst>
            </a:custGeom>
            <a:solidFill>
              <a:srgbClr val="8C7753">
                <a:alpha val="87843"/>
              </a:srgbClr>
            </a:solidFill>
            <a:ln cap="sq">
              <a:noFill/>
              <a:prstDash val="solid"/>
              <a:miter/>
            </a:ln>
          </p:spPr>
        </p:sp>
        <p:sp>
          <p:nvSpPr>
            <p:cNvPr name="TextBox 19" id="19"/>
            <p:cNvSpPr txBox="true"/>
            <p:nvPr/>
          </p:nvSpPr>
          <p:spPr>
            <a:xfrm>
              <a:off x="0" y="-47625"/>
              <a:ext cx="3703838" cy="2139482"/>
            </a:xfrm>
            <a:prstGeom prst="rect">
              <a:avLst/>
            </a:prstGeom>
          </p:spPr>
          <p:txBody>
            <a:bodyPr anchor="ctr" rtlCol="false" tIns="50800" lIns="50800" bIns="50800" rIns="50800"/>
            <a:lstStyle/>
            <a:p>
              <a:pPr algn="ctr" marL="0" indent="0" lvl="0">
                <a:lnSpc>
                  <a:spcPts val="3587"/>
                </a:lnSpc>
                <a:spcBef>
                  <a:spcPct val="0"/>
                </a:spcBef>
              </a:pPr>
            </a:p>
          </p:txBody>
        </p:sp>
      </p:grpSp>
      <p:sp>
        <p:nvSpPr>
          <p:cNvPr name="Freeform 20" id="20"/>
          <p:cNvSpPr/>
          <p:nvPr/>
        </p:nvSpPr>
        <p:spPr>
          <a:xfrm flipH="false" flipV="false" rot="0">
            <a:off x="10772970" y="5548143"/>
            <a:ext cx="5872250" cy="2561857"/>
          </a:xfrm>
          <a:custGeom>
            <a:avLst/>
            <a:gdLst/>
            <a:ahLst/>
            <a:cxnLst/>
            <a:rect r="r" b="b" t="t" l="l"/>
            <a:pathLst>
              <a:path h="2561857" w="5872250">
                <a:moveTo>
                  <a:pt x="0" y="0"/>
                </a:moveTo>
                <a:lnTo>
                  <a:pt x="5872250" y="0"/>
                </a:lnTo>
                <a:lnTo>
                  <a:pt x="5872250" y="2561857"/>
                </a:lnTo>
                <a:lnTo>
                  <a:pt x="0" y="2561857"/>
                </a:lnTo>
                <a:lnTo>
                  <a:pt x="0" y="0"/>
                </a:lnTo>
                <a:close/>
              </a:path>
            </a:pathLst>
          </a:custGeom>
          <a:blipFill>
            <a:blip r:embed="rId5"/>
            <a:stretch>
              <a:fillRect l="0" t="-4439" r="0" b="-4439"/>
            </a:stretch>
          </a:blipFill>
        </p:spPr>
      </p:sp>
      <p:sp>
        <p:nvSpPr>
          <p:cNvPr name="TextBox 21" id="21"/>
          <p:cNvSpPr txBox="true"/>
          <p:nvPr/>
        </p:nvSpPr>
        <p:spPr>
          <a:xfrm rot="0">
            <a:off x="2266543" y="4677991"/>
            <a:ext cx="5723129" cy="529476"/>
          </a:xfrm>
          <a:prstGeom prst="rect">
            <a:avLst/>
          </a:prstGeom>
        </p:spPr>
        <p:txBody>
          <a:bodyPr anchor="t" rtlCol="false" tIns="0" lIns="0" bIns="0" rIns="0">
            <a:spAutoFit/>
          </a:bodyPr>
          <a:lstStyle/>
          <a:p>
            <a:pPr algn="just">
              <a:lnSpc>
                <a:spcPts val="4024"/>
              </a:lnSpc>
            </a:pPr>
            <a:r>
              <a:rPr lang="en-US" sz="3561">
                <a:solidFill>
                  <a:srgbClr val="FFFFFF"/>
                </a:solidFill>
                <a:latin typeface="Archivo Black"/>
                <a:ea typeface="Archivo Black"/>
                <a:cs typeface="Archivo Black"/>
                <a:sym typeface="Archivo Black"/>
              </a:rPr>
              <a:t> </a:t>
            </a:r>
            <a:r>
              <a:rPr lang="en-US" sz="3561">
                <a:solidFill>
                  <a:srgbClr val="FFFFFF"/>
                </a:solidFill>
                <a:latin typeface="Archivo Black"/>
                <a:ea typeface="Archivo Black"/>
                <a:cs typeface="Archivo Black"/>
                <a:sym typeface="Archivo Black"/>
              </a:rPr>
              <a:t>Ad</a:t>
            </a:r>
            <a:r>
              <a:rPr lang="en-US" sz="3561">
                <a:solidFill>
                  <a:srgbClr val="FFFFFF"/>
                </a:solidFill>
                <a:latin typeface="Archivo Black"/>
                <a:ea typeface="Archivo Black"/>
                <a:cs typeface="Archivo Black"/>
                <a:sym typeface="Archivo Black"/>
              </a:rPr>
              <a:t>min Module </a:t>
            </a:r>
          </a:p>
        </p:txBody>
      </p:sp>
      <p:sp>
        <p:nvSpPr>
          <p:cNvPr name="TextBox 22" id="22"/>
          <p:cNvSpPr txBox="true"/>
          <p:nvPr/>
        </p:nvSpPr>
        <p:spPr>
          <a:xfrm rot="0">
            <a:off x="12022547" y="4539492"/>
            <a:ext cx="4622673" cy="529476"/>
          </a:xfrm>
          <a:prstGeom prst="rect">
            <a:avLst/>
          </a:prstGeom>
        </p:spPr>
        <p:txBody>
          <a:bodyPr anchor="t" rtlCol="false" tIns="0" lIns="0" bIns="0" rIns="0">
            <a:spAutoFit/>
          </a:bodyPr>
          <a:lstStyle/>
          <a:p>
            <a:pPr algn="just">
              <a:lnSpc>
                <a:spcPts val="4024"/>
              </a:lnSpc>
            </a:pPr>
            <a:r>
              <a:rPr lang="en-US" sz="3561">
                <a:solidFill>
                  <a:srgbClr val="FFFFFF"/>
                </a:solidFill>
                <a:latin typeface="Archivo Black"/>
                <a:ea typeface="Archivo Black"/>
                <a:cs typeface="Archivo Black"/>
                <a:sym typeface="Archivo Black"/>
              </a:rPr>
              <a:t>User Module </a:t>
            </a:r>
          </a:p>
        </p:txBody>
      </p:sp>
      <p:sp>
        <p:nvSpPr>
          <p:cNvPr name="TextBox 23" id="23"/>
          <p:cNvSpPr txBox="true"/>
          <p:nvPr/>
        </p:nvSpPr>
        <p:spPr>
          <a:xfrm rot="0">
            <a:off x="10922091" y="8103693"/>
            <a:ext cx="5723129" cy="1036814"/>
          </a:xfrm>
          <a:prstGeom prst="rect">
            <a:avLst/>
          </a:prstGeom>
        </p:spPr>
        <p:txBody>
          <a:bodyPr anchor="t" rtlCol="false" tIns="0" lIns="0" bIns="0" rIns="0">
            <a:spAutoFit/>
          </a:bodyPr>
          <a:lstStyle/>
          <a:p>
            <a:pPr algn="just">
              <a:lnSpc>
                <a:spcPts val="4024"/>
              </a:lnSpc>
            </a:pPr>
            <a:r>
              <a:rPr lang="en-US" sz="3561">
                <a:solidFill>
                  <a:srgbClr val="FFFFFF"/>
                </a:solidFill>
                <a:latin typeface="Archivo Black"/>
                <a:ea typeface="Archivo Black"/>
                <a:cs typeface="Archivo Black"/>
                <a:sym typeface="Archivo Black"/>
              </a:rPr>
              <a:t>QR Co</a:t>
            </a:r>
            <a:r>
              <a:rPr lang="en-US" sz="3561">
                <a:solidFill>
                  <a:srgbClr val="FFFFFF"/>
                </a:solidFill>
                <a:latin typeface="Archivo Black"/>
                <a:ea typeface="Archivo Black"/>
                <a:cs typeface="Archivo Black"/>
                <a:sym typeface="Archivo Black"/>
              </a:rPr>
              <a:t>de Val</a:t>
            </a:r>
            <a:r>
              <a:rPr lang="en-US" sz="3561">
                <a:solidFill>
                  <a:srgbClr val="FFFFFF"/>
                </a:solidFill>
                <a:latin typeface="Archivo Black"/>
                <a:ea typeface="Archivo Black"/>
                <a:cs typeface="Archivo Black"/>
                <a:sym typeface="Archivo Black"/>
              </a:rPr>
              <a:t>idation Module </a:t>
            </a:r>
          </a:p>
        </p:txBody>
      </p:sp>
      <p:sp>
        <p:nvSpPr>
          <p:cNvPr name="TextBox 24" id="24"/>
          <p:cNvSpPr txBox="true"/>
          <p:nvPr/>
        </p:nvSpPr>
        <p:spPr>
          <a:xfrm rot="0">
            <a:off x="2098356" y="8357362"/>
            <a:ext cx="5723129" cy="529476"/>
          </a:xfrm>
          <a:prstGeom prst="rect">
            <a:avLst/>
          </a:prstGeom>
        </p:spPr>
        <p:txBody>
          <a:bodyPr anchor="t" rtlCol="false" tIns="0" lIns="0" bIns="0" rIns="0">
            <a:spAutoFit/>
          </a:bodyPr>
          <a:lstStyle/>
          <a:p>
            <a:pPr algn="just">
              <a:lnSpc>
                <a:spcPts val="4024"/>
              </a:lnSpc>
            </a:pPr>
            <a:r>
              <a:rPr lang="en-US" sz="3561">
                <a:solidFill>
                  <a:srgbClr val="FFFFFF"/>
                </a:solidFill>
                <a:latin typeface="Archivo Black"/>
                <a:ea typeface="Archivo Black"/>
                <a:cs typeface="Archivo Black"/>
                <a:sym typeface="Archivo Black"/>
              </a:rPr>
              <a:t>Payment Module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9912749" y="1398270"/>
            <a:ext cx="7342398"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TECHNOLOGY USED</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8</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batch 09</a:t>
            </a:r>
          </a:p>
        </p:txBody>
      </p:sp>
      <p:sp>
        <p:nvSpPr>
          <p:cNvPr name="Freeform 5" id="5"/>
          <p:cNvSpPr/>
          <p:nvPr/>
        </p:nvSpPr>
        <p:spPr>
          <a:xfrm flipH="false" flipV="false" rot="0">
            <a:off x="0" y="0"/>
            <a:ext cx="9084074" cy="10287000"/>
          </a:xfrm>
          <a:custGeom>
            <a:avLst/>
            <a:gdLst/>
            <a:ahLst/>
            <a:cxnLst/>
            <a:rect r="r" b="b" t="t" l="l"/>
            <a:pathLst>
              <a:path h="10287000" w="9084074">
                <a:moveTo>
                  <a:pt x="0" y="0"/>
                </a:moveTo>
                <a:lnTo>
                  <a:pt x="9084074" y="0"/>
                </a:lnTo>
                <a:lnTo>
                  <a:pt x="9084074" y="10287000"/>
                </a:lnTo>
                <a:lnTo>
                  <a:pt x="0" y="10287000"/>
                </a:lnTo>
                <a:lnTo>
                  <a:pt x="0" y="0"/>
                </a:lnTo>
                <a:close/>
              </a:path>
            </a:pathLst>
          </a:custGeom>
          <a:blipFill>
            <a:blip r:embed="rId2"/>
            <a:stretch>
              <a:fillRect l="-37774" t="0" r="-32514" b="0"/>
            </a:stretch>
          </a:blipFill>
        </p:spPr>
      </p:sp>
      <p:sp>
        <p:nvSpPr>
          <p:cNvPr name="TextBox 6" id="6"/>
          <p:cNvSpPr txBox="true"/>
          <p:nvPr/>
        </p:nvSpPr>
        <p:spPr>
          <a:xfrm rot="0">
            <a:off x="10149666" y="4710187"/>
            <a:ext cx="2473430" cy="733129"/>
          </a:xfrm>
          <a:prstGeom prst="rect">
            <a:avLst/>
          </a:prstGeom>
        </p:spPr>
        <p:txBody>
          <a:bodyPr anchor="t" rtlCol="false" tIns="0" lIns="0" bIns="0" rIns="0">
            <a:spAutoFit/>
          </a:bodyPr>
          <a:lstStyle/>
          <a:p>
            <a:pPr algn="l">
              <a:lnSpc>
                <a:spcPts val="2971"/>
              </a:lnSpc>
              <a:spcBef>
                <a:spcPct val="0"/>
              </a:spcBef>
            </a:pPr>
            <a:r>
              <a:rPr lang="en-US" sz="2122" spc="127">
                <a:solidFill>
                  <a:srgbClr val="5F0F15"/>
                </a:solidFill>
                <a:latin typeface="Archivo Black"/>
                <a:ea typeface="Archivo Black"/>
                <a:cs typeface="Archivo Black"/>
                <a:sym typeface="Archivo Black"/>
              </a:rPr>
              <a:t>Frontend: React</a:t>
            </a:r>
          </a:p>
        </p:txBody>
      </p:sp>
      <p:sp>
        <p:nvSpPr>
          <p:cNvPr name="TextBox 7" id="7"/>
          <p:cNvSpPr txBox="true"/>
          <p:nvPr/>
        </p:nvSpPr>
        <p:spPr>
          <a:xfrm rot="0">
            <a:off x="14363103" y="4710187"/>
            <a:ext cx="2684335" cy="733129"/>
          </a:xfrm>
          <a:prstGeom prst="rect">
            <a:avLst/>
          </a:prstGeom>
        </p:spPr>
        <p:txBody>
          <a:bodyPr anchor="t" rtlCol="false" tIns="0" lIns="0" bIns="0" rIns="0">
            <a:spAutoFit/>
          </a:bodyPr>
          <a:lstStyle/>
          <a:p>
            <a:pPr algn="l">
              <a:lnSpc>
                <a:spcPts val="2971"/>
              </a:lnSpc>
              <a:spcBef>
                <a:spcPct val="0"/>
              </a:spcBef>
            </a:pPr>
            <a:r>
              <a:rPr lang="en-US" sz="2122" spc="127">
                <a:solidFill>
                  <a:srgbClr val="5F0F15"/>
                </a:solidFill>
                <a:latin typeface="Archivo Black"/>
                <a:ea typeface="Archivo Black"/>
                <a:cs typeface="Archivo Black"/>
                <a:sym typeface="Archivo Black"/>
              </a:rPr>
              <a:t>Database: MySQL</a:t>
            </a:r>
          </a:p>
        </p:txBody>
      </p:sp>
      <p:sp>
        <p:nvSpPr>
          <p:cNvPr name="TextBox 8" id="8"/>
          <p:cNvSpPr txBox="true"/>
          <p:nvPr/>
        </p:nvSpPr>
        <p:spPr>
          <a:xfrm rot="0">
            <a:off x="14363103" y="7816010"/>
            <a:ext cx="2428365" cy="1102837"/>
          </a:xfrm>
          <a:prstGeom prst="rect">
            <a:avLst/>
          </a:prstGeom>
        </p:spPr>
        <p:txBody>
          <a:bodyPr anchor="t" rtlCol="false" tIns="0" lIns="0" bIns="0" rIns="0">
            <a:spAutoFit/>
          </a:bodyPr>
          <a:lstStyle/>
          <a:p>
            <a:pPr algn="l">
              <a:lnSpc>
                <a:spcPts val="2971"/>
              </a:lnSpc>
            </a:pPr>
            <a:r>
              <a:rPr lang="en-US" sz="2122" spc="127">
                <a:solidFill>
                  <a:srgbClr val="5F0F15"/>
                </a:solidFill>
                <a:latin typeface="Archivo Black"/>
                <a:ea typeface="Archivo Black"/>
                <a:cs typeface="Archivo Black"/>
                <a:sym typeface="Archivo Black"/>
              </a:rPr>
              <a:t>Language: Java</a:t>
            </a:r>
          </a:p>
          <a:p>
            <a:pPr algn="l">
              <a:lnSpc>
                <a:spcPts val="2971"/>
              </a:lnSpc>
              <a:spcBef>
                <a:spcPct val="0"/>
              </a:spcBef>
            </a:pPr>
          </a:p>
        </p:txBody>
      </p:sp>
      <p:sp>
        <p:nvSpPr>
          <p:cNvPr name="TextBox 9" id="9"/>
          <p:cNvSpPr txBox="true"/>
          <p:nvPr/>
        </p:nvSpPr>
        <p:spPr>
          <a:xfrm rot="0">
            <a:off x="10149666" y="7816010"/>
            <a:ext cx="2396264" cy="733129"/>
          </a:xfrm>
          <a:prstGeom prst="rect">
            <a:avLst/>
          </a:prstGeom>
        </p:spPr>
        <p:txBody>
          <a:bodyPr anchor="t" rtlCol="false" tIns="0" lIns="0" bIns="0" rIns="0">
            <a:spAutoFit/>
          </a:bodyPr>
          <a:lstStyle/>
          <a:p>
            <a:pPr algn="l">
              <a:lnSpc>
                <a:spcPts val="2971"/>
              </a:lnSpc>
              <a:spcBef>
                <a:spcPct val="0"/>
              </a:spcBef>
            </a:pPr>
            <a:r>
              <a:rPr lang="en-US" sz="2122" spc="127">
                <a:solidFill>
                  <a:srgbClr val="5F0F15"/>
                </a:solidFill>
                <a:latin typeface="Archivo Black"/>
                <a:ea typeface="Archivo Black"/>
                <a:cs typeface="Archivo Black"/>
                <a:sym typeface="Archivo Black"/>
              </a:rPr>
              <a:t>Backend: Spring Boot</a:t>
            </a:r>
          </a:p>
        </p:txBody>
      </p:sp>
      <p:grpSp>
        <p:nvGrpSpPr>
          <p:cNvPr name="Group 10" id="10"/>
          <p:cNvGrpSpPr/>
          <p:nvPr/>
        </p:nvGrpSpPr>
        <p:grpSpPr>
          <a:xfrm rot="0">
            <a:off x="10149666" y="2753997"/>
            <a:ext cx="2013718" cy="1901555"/>
            <a:chOff x="0" y="0"/>
            <a:chExt cx="478954" cy="452277"/>
          </a:xfrm>
        </p:grpSpPr>
        <p:sp>
          <p:nvSpPr>
            <p:cNvPr name="Freeform 11" id="11"/>
            <p:cNvSpPr/>
            <p:nvPr/>
          </p:nvSpPr>
          <p:spPr>
            <a:xfrm flipH="false" flipV="false" rot="0">
              <a:off x="0" y="0"/>
              <a:ext cx="478954" cy="452277"/>
            </a:xfrm>
            <a:custGeom>
              <a:avLst/>
              <a:gdLst/>
              <a:ahLst/>
              <a:cxnLst/>
              <a:rect r="r" b="b" t="t" l="l"/>
              <a:pathLst>
                <a:path h="452277" w="478954">
                  <a:moveTo>
                    <a:pt x="226138" y="0"/>
                  </a:moveTo>
                  <a:lnTo>
                    <a:pt x="252816" y="0"/>
                  </a:lnTo>
                  <a:cubicBezTo>
                    <a:pt x="312791" y="0"/>
                    <a:pt x="370311" y="23825"/>
                    <a:pt x="412720" y="66234"/>
                  </a:cubicBezTo>
                  <a:cubicBezTo>
                    <a:pt x="455129" y="108644"/>
                    <a:pt x="478954" y="166163"/>
                    <a:pt x="478954" y="226138"/>
                  </a:cubicBezTo>
                  <a:lnTo>
                    <a:pt x="478954" y="226138"/>
                  </a:lnTo>
                  <a:cubicBezTo>
                    <a:pt x="478954" y="286114"/>
                    <a:pt x="455129" y="343633"/>
                    <a:pt x="412720" y="386042"/>
                  </a:cubicBezTo>
                  <a:cubicBezTo>
                    <a:pt x="370311" y="428451"/>
                    <a:pt x="312791" y="452277"/>
                    <a:pt x="252816" y="452277"/>
                  </a:cubicBezTo>
                  <a:lnTo>
                    <a:pt x="226138" y="452277"/>
                  </a:lnTo>
                  <a:cubicBezTo>
                    <a:pt x="166163" y="452277"/>
                    <a:pt x="108644" y="428451"/>
                    <a:pt x="66234" y="386042"/>
                  </a:cubicBezTo>
                  <a:cubicBezTo>
                    <a:pt x="23825" y="343633"/>
                    <a:pt x="0" y="286114"/>
                    <a:pt x="0" y="226138"/>
                  </a:cubicBezTo>
                  <a:lnTo>
                    <a:pt x="0" y="226138"/>
                  </a:lnTo>
                  <a:cubicBezTo>
                    <a:pt x="0" y="166163"/>
                    <a:pt x="23825" y="108644"/>
                    <a:pt x="66234" y="66234"/>
                  </a:cubicBezTo>
                  <a:cubicBezTo>
                    <a:pt x="108644" y="23825"/>
                    <a:pt x="166163" y="0"/>
                    <a:pt x="226138" y="0"/>
                  </a:cubicBezTo>
                  <a:close/>
                </a:path>
              </a:pathLst>
            </a:custGeom>
            <a:blipFill>
              <a:blip r:embed="rId3"/>
              <a:stretch>
                <a:fillRect l="-21000" t="0" r="-21000" b="0"/>
              </a:stretch>
            </a:blipFill>
          </p:spPr>
        </p:sp>
      </p:grpSp>
      <p:grpSp>
        <p:nvGrpSpPr>
          <p:cNvPr name="Group 12" id="12"/>
          <p:cNvGrpSpPr/>
          <p:nvPr/>
        </p:nvGrpSpPr>
        <p:grpSpPr>
          <a:xfrm rot="0">
            <a:off x="10149666" y="5839924"/>
            <a:ext cx="2013718" cy="1901555"/>
            <a:chOff x="0" y="0"/>
            <a:chExt cx="478954" cy="452277"/>
          </a:xfrm>
        </p:grpSpPr>
        <p:sp>
          <p:nvSpPr>
            <p:cNvPr name="Freeform 13" id="13"/>
            <p:cNvSpPr/>
            <p:nvPr/>
          </p:nvSpPr>
          <p:spPr>
            <a:xfrm flipH="false" flipV="false" rot="0">
              <a:off x="0" y="0"/>
              <a:ext cx="478954" cy="452277"/>
            </a:xfrm>
            <a:custGeom>
              <a:avLst/>
              <a:gdLst/>
              <a:ahLst/>
              <a:cxnLst/>
              <a:rect r="r" b="b" t="t" l="l"/>
              <a:pathLst>
                <a:path h="452277" w="478954">
                  <a:moveTo>
                    <a:pt x="226138" y="0"/>
                  </a:moveTo>
                  <a:lnTo>
                    <a:pt x="252816" y="0"/>
                  </a:lnTo>
                  <a:cubicBezTo>
                    <a:pt x="312791" y="0"/>
                    <a:pt x="370311" y="23825"/>
                    <a:pt x="412720" y="66234"/>
                  </a:cubicBezTo>
                  <a:cubicBezTo>
                    <a:pt x="455129" y="108644"/>
                    <a:pt x="478954" y="166163"/>
                    <a:pt x="478954" y="226138"/>
                  </a:cubicBezTo>
                  <a:lnTo>
                    <a:pt x="478954" y="226138"/>
                  </a:lnTo>
                  <a:cubicBezTo>
                    <a:pt x="478954" y="286114"/>
                    <a:pt x="455129" y="343633"/>
                    <a:pt x="412720" y="386042"/>
                  </a:cubicBezTo>
                  <a:cubicBezTo>
                    <a:pt x="370311" y="428451"/>
                    <a:pt x="312791" y="452277"/>
                    <a:pt x="252816" y="452277"/>
                  </a:cubicBezTo>
                  <a:lnTo>
                    <a:pt x="226138" y="452277"/>
                  </a:lnTo>
                  <a:cubicBezTo>
                    <a:pt x="166163" y="452277"/>
                    <a:pt x="108644" y="428451"/>
                    <a:pt x="66234" y="386042"/>
                  </a:cubicBezTo>
                  <a:cubicBezTo>
                    <a:pt x="23825" y="343633"/>
                    <a:pt x="0" y="286114"/>
                    <a:pt x="0" y="226138"/>
                  </a:cubicBezTo>
                  <a:lnTo>
                    <a:pt x="0" y="226138"/>
                  </a:lnTo>
                  <a:cubicBezTo>
                    <a:pt x="0" y="166163"/>
                    <a:pt x="23825" y="108644"/>
                    <a:pt x="66234" y="66234"/>
                  </a:cubicBezTo>
                  <a:cubicBezTo>
                    <a:pt x="108644" y="23825"/>
                    <a:pt x="166163" y="0"/>
                    <a:pt x="226138" y="0"/>
                  </a:cubicBezTo>
                  <a:close/>
                </a:path>
              </a:pathLst>
            </a:custGeom>
            <a:blipFill>
              <a:blip r:embed="rId4"/>
              <a:stretch>
                <a:fillRect l="0" t="-2949" r="0" b="-2949"/>
              </a:stretch>
            </a:blipFill>
          </p:spPr>
        </p:sp>
      </p:grpSp>
      <p:grpSp>
        <p:nvGrpSpPr>
          <p:cNvPr name="Group 14" id="14"/>
          <p:cNvGrpSpPr/>
          <p:nvPr/>
        </p:nvGrpSpPr>
        <p:grpSpPr>
          <a:xfrm rot="0">
            <a:off x="14363103" y="2753997"/>
            <a:ext cx="2013718" cy="1901555"/>
            <a:chOff x="0" y="0"/>
            <a:chExt cx="478954" cy="452277"/>
          </a:xfrm>
        </p:grpSpPr>
        <p:sp>
          <p:nvSpPr>
            <p:cNvPr name="Freeform 15" id="15"/>
            <p:cNvSpPr/>
            <p:nvPr/>
          </p:nvSpPr>
          <p:spPr>
            <a:xfrm flipH="false" flipV="false" rot="0">
              <a:off x="0" y="0"/>
              <a:ext cx="478954" cy="452277"/>
            </a:xfrm>
            <a:custGeom>
              <a:avLst/>
              <a:gdLst/>
              <a:ahLst/>
              <a:cxnLst/>
              <a:rect r="r" b="b" t="t" l="l"/>
              <a:pathLst>
                <a:path h="452277" w="478954">
                  <a:moveTo>
                    <a:pt x="226138" y="0"/>
                  </a:moveTo>
                  <a:lnTo>
                    <a:pt x="252816" y="0"/>
                  </a:lnTo>
                  <a:cubicBezTo>
                    <a:pt x="312791" y="0"/>
                    <a:pt x="370311" y="23825"/>
                    <a:pt x="412720" y="66234"/>
                  </a:cubicBezTo>
                  <a:cubicBezTo>
                    <a:pt x="455129" y="108644"/>
                    <a:pt x="478954" y="166163"/>
                    <a:pt x="478954" y="226138"/>
                  </a:cubicBezTo>
                  <a:lnTo>
                    <a:pt x="478954" y="226138"/>
                  </a:lnTo>
                  <a:cubicBezTo>
                    <a:pt x="478954" y="286114"/>
                    <a:pt x="455129" y="343633"/>
                    <a:pt x="412720" y="386042"/>
                  </a:cubicBezTo>
                  <a:cubicBezTo>
                    <a:pt x="370311" y="428451"/>
                    <a:pt x="312791" y="452277"/>
                    <a:pt x="252816" y="452277"/>
                  </a:cubicBezTo>
                  <a:lnTo>
                    <a:pt x="226138" y="452277"/>
                  </a:lnTo>
                  <a:cubicBezTo>
                    <a:pt x="166163" y="452277"/>
                    <a:pt x="108644" y="428451"/>
                    <a:pt x="66234" y="386042"/>
                  </a:cubicBezTo>
                  <a:cubicBezTo>
                    <a:pt x="23825" y="343633"/>
                    <a:pt x="0" y="286114"/>
                    <a:pt x="0" y="226138"/>
                  </a:cubicBezTo>
                  <a:lnTo>
                    <a:pt x="0" y="226138"/>
                  </a:lnTo>
                  <a:cubicBezTo>
                    <a:pt x="0" y="166163"/>
                    <a:pt x="23825" y="108644"/>
                    <a:pt x="66234" y="66234"/>
                  </a:cubicBezTo>
                  <a:cubicBezTo>
                    <a:pt x="108644" y="23825"/>
                    <a:pt x="166163" y="0"/>
                    <a:pt x="226138" y="0"/>
                  </a:cubicBezTo>
                  <a:close/>
                </a:path>
              </a:pathLst>
            </a:custGeom>
            <a:blipFill>
              <a:blip r:embed="rId5"/>
              <a:stretch>
                <a:fillRect l="-21000" t="0" r="-21000" b="0"/>
              </a:stretch>
            </a:blipFill>
          </p:spPr>
        </p:sp>
      </p:grpSp>
      <p:grpSp>
        <p:nvGrpSpPr>
          <p:cNvPr name="Group 16" id="16"/>
          <p:cNvGrpSpPr/>
          <p:nvPr/>
        </p:nvGrpSpPr>
        <p:grpSpPr>
          <a:xfrm rot="0">
            <a:off x="14363103" y="5839924"/>
            <a:ext cx="1886737" cy="1901555"/>
            <a:chOff x="0" y="0"/>
            <a:chExt cx="448752" cy="452277"/>
          </a:xfrm>
        </p:grpSpPr>
        <p:sp>
          <p:nvSpPr>
            <p:cNvPr name="Freeform 17" id="17"/>
            <p:cNvSpPr/>
            <p:nvPr/>
          </p:nvSpPr>
          <p:spPr>
            <a:xfrm flipH="false" flipV="false" rot="0">
              <a:off x="0" y="0"/>
              <a:ext cx="448752" cy="452277"/>
            </a:xfrm>
            <a:custGeom>
              <a:avLst/>
              <a:gdLst/>
              <a:ahLst/>
              <a:cxnLst/>
              <a:rect r="r" b="b" t="t" l="l"/>
              <a:pathLst>
                <a:path h="452277" w="448752">
                  <a:moveTo>
                    <a:pt x="224376" y="0"/>
                  </a:moveTo>
                  <a:lnTo>
                    <a:pt x="224376" y="0"/>
                  </a:lnTo>
                  <a:cubicBezTo>
                    <a:pt x="283884" y="0"/>
                    <a:pt x="340955" y="23640"/>
                    <a:pt x="383034" y="65718"/>
                  </a:cubicBezTo>
                  <a:cubicBezTo>
                    <a:pt x="425113" y="107797"/>
                    <a:pt x="448752" y="164868"/>
                    <a:pt x="448752" y="224376"/>
                  </a:cubicBezTo>
                  <a:lnTo>
                    <a:pt x="448752" y="227901"/>
                  </a:lnTo>
                  <a:cubicBezTo>
                    <a:pt x="448752" y="287409"/>
                    <a:pt x="425113" y="344480"/>
                    <a:pt x="383034" y="386558"/>
                  </a:cubicBezTo>
                  <a:cubicBezTo>
                    <a:pt x="340955" y="428637"/>
                    <a:pt x="283884" y="452277"/>
                    <a:pt x="224376" y="452277"/>
                  </a:cubicBezTo>
                  <a:lnTo>
                    <a:pt x="224376" y="452277"/>
                  </a:lnTo>
                  <a:cubicBezTo>
                    <a:pt x="164868" y="452277"/>
                    <a:pt x="107797" y="428637"/>
                    <a:pt x="65718" y="386558"/>
                  </a:cubicBezTo>
                  <a:cubicBezTo>
                    <a:pt x="23640" y="344480"/>
                    <a:pt x="0" y="287409"/>
                    <a:pt x="0" y="227901"/>
                  </a:cubicBezTo>
                  <a:lnTo>
                    <a:pt x="0" y="224376"/>
                  </a:lnTo>
                  <a:cubicBezTo>
                    <a:pt x="0" y="164868"/>
                    <a:pt x="23640" y="107797"/>
                    <a:pt x="65718" y="65718"/>
                  </a:cubicBezTo>
                  <a:cubicBezTo>
                    <a:pt x="107797" y="23640"/>
                    <a:pt x="164868" y="0"/>
                    <a:pt x="224376" y="0"/>
                  </a:cubicBezTo>
                  <a:close/>
                </a:path>
              </a:pathLst>
            </a:custGeom>
            <a:blipFill>
              <a:blip r:embed="rId6"/>
              <a:stretch>
                <a:fillRect l="-392" t="0" r="-392"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9144000" y="1398270"/>
            <a:ext cx="8115300"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System Architecture</a:t>
            </a:r>
          </a:p>
        </p:txBody>
      </p:sp>
      <p:sp>
        <p:nvSpPr>
          <p:cNvPr name="TextBox 3" id="3"/>
          <p:cNvSpPr txBox="true"/>
          <p:nvPr/>
        </p:nvSpPr>
        <p:spPr>
          <a:xfrm rot="0">
            <a:off x="10041195" y="2255520"/>
            <a:ext cx="6999640" cy="2887980"/>
          </a:xfrm>
          <a:prstGeom prst="rect">
            <a:avLst/>
          </a:prstGeom>
        </p:spPr>
        <p:txBody>
          <a:bodyPr anchor="t" rtlCol="false" tIns="0" lIns="0" bIns="0" rIns="0">
            <a:spAutoFit/>
          </a:bodyPr>
          <a:lstStyle/>
          <a:p>
            <a:pPr algn="l">
              <a:lnSpc>
                <a:spcPts val="3840"/>
              </a:lnSpc>
            </a:pPr>
            <a:r>
              <a:rPr lang="en-US" sz="2400" spc="-12">
                <a:solidFill>
                  <a:srgbClr val="331B0D"/>
                </a:solidFill>
                <a:latin typeface="Open Sauce"/>
                <a:ea typeface="Open Sauce"/>
                <a:cs typeface="Open Sauce"/>
                <a:sym typeface="Open Sauce"/>
              </a:rPr>
              <a:t>• Use</a:t>
            </a:r>
            <a:r>
              <a:rPr lang="en-US" sz="2400" spc="-12">
                <a:solidFill>
                  <a:srgbClr val="331B0D"/>
                </a:solidFill>
                <a:latin typeface="Open Sauce"/>
                <a:ea typeface="Open Sauce"/>
                <a:cs typeface="Open Sauce"/>
                <a:sym typeface="Open Sauce"/>
              </a:rPr>
              <a:t>r interacts with web interface </a:t>
            </a:r>
          </a:p>
          <a:p>
            <a:pPr algn="l">
              <a:lnSpc>
                <a:spcPts val="3840"/>
              </a:lnSpc>
            </a:pPr>
            <a:r>
              <a:rPr lang="en-US" sz="2400" spc="-12">
                <a:solidFill>
                  <a:srgbClr val="331B0D"/>
                </a:solidFill>
                <a:latin typeface="Open Sauce"/>
                <a:ea typeface="Open Sauce"/>
                <a:cs typeface="Open Sauce"/>
                <a:sym typeface="Open Sauce"/>
              </a:rPr>
              <a:t>• Frontend sends requests to backend </a:t>
            </a:r>
          </a:p>
          <a:p>
            <a:pPr algn="l">
              <a:lnSpc>
                <a:spcPts val="3840"/>
              </a:lnSpc>
            </a:pPr>
            <a:r>
              <a:rPr lang="en-US" sz="2400" spc="-12">
                <a:solidFill>
                  <a:srgbClr val="331B0D"/>
                </a:solidFill>
                <a:latin typeface="Open Sauce"/>
                <a:ea typeface="Open Sauce"/>
                <a:cs typeface="Open Sauce"/>
                <a:sym typeface="Open Sauce"/>
              </a:rPr>
              <a:t>• Backend processes business logic </a:t>
            </a:r>
          </a:p>
          <a:p>
            <a:pPr algn="l">
              <a:lnSpc>
                <a:spcPts val="3840"/>
              </a:lnSpc>
            </a:pPr>
            <a:r>
              <a:rPr lang="en-US" sz="2400" spc="-12">
                <a:solidFill>
                  <a:srgbClr val="331B0D"/>
                </a:solidFill>
                <a:latin typeface="Open Sauce"/>
                <a:ea typeface="Open Sauce"/>
                <a:cs typeface="Open Sauce"/>
                <a:sym typeface="Open Sauce"/>
              </a:rPr>
              <a:t>• Database stores user and booking data </a:t>
            </a:r>
          </a:p>
          <a:p>
            <a:pPr algn="l">
              <a:lnSpc>
                <a:spcPts val="3840"/>
              </a:lnSpc>
            </a:pPr>
            <a:r>
              <a:rPr lang="en-US" sz="2400" spc="-12">
                <a:solidFill>
                  <a:srgbClr val="331B0D"/>
                </a:solidFill>
                <a:latin typeface="Open Sauce"/>
                <a:ea typeface="Open Sauce"/>
                <a:cs typeface="Open Sauce"/>
                <a:sym typeface="Open Sauce"/>
              </a:rPr>
              <a:t>• QR validation used at event entry </a:t>
            </a:r>
          </a:p>
          <a:p>
            <a:pPr algn="l">
              <a:lnSpc>
                <a:spcPts val="3840"/>
              </a:lnSpc>
            </a:pPr>
          </a:p>
        </p:txBody>
      </p:sp>
      <p:sp>
        <p:nvSpPr>
          <p:cNvPr name="Freeform 4" id="4"/>
          <p:cNvSpPr/>
          <p:nvPr/>
        </p:nvSpPr>
        <p:spPr>
          <a:xfrm flipH="false" flipV="false" rot="0">
            <a:off x="-111139" y="-1043705"/>
            <a:ext cx="9144000" cy="11819796"/>
          </a:xfrm>
          <a:custGeom>
            <a:avLst/>
            <a:gdLst/>
            <a:ahLst/>
            <a:cxnLst/>
            <a:rect r="r" b="b" t="t" l="l"/>
            <a:pathLst>
              <a:path h="11819796" w="9144000">
                <a:moveTo>
                  <a:pt x="0" y="0"/>
                </a:moveTo>
                <a:lnTo>
                  <a:pt x="9144000" y="0"/>
                </a:lnTo>
                <a:lnTo>
                  <a:pt x="9144000" y="11819795"/>
                </a:lnTo>
                <a:lnTo>
                  <a:pt x="0" y="11819795"/>
                </a:lnTo>
                <a:lnTo>
                  <a:pt x="0" y="0"/>
                </a:lnTo>
                <a:close/>
              </a:path>
            </a:pathLst>
          </a:custGeom>
          <a:blipFill>
            <a:blip r:embed="rId2"/>
            <a:stretch>
              <a:fillRect l="-1147" t="-8723" r="0" b="-8723"/>
            </a:stretch>
          </a:blipFill>
        </p:spPr>
      </p:sp>
      <p:sp>
        <p:nvSpPr>
          <p:cNvPr name="TextBox 5" id="5"/>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9</a:t>
            </a:r>
          </a:p>
        </p:txBody>
      </p:sp>
      <p:sp>
        <p:nvSpPr>
          <p:cNvPr name="TextBox 6" id="6"/>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batch 09</a:t>
            </a:r>
          </a:p>
        </p:txBody>
      </p:sp>
      <p:sp>
        <p:nvSpPr>
          <p:cNvPr name="TextBox 7" id="7"/>
          <p:cNvSpPr txBox="true"/>
          <p:nvPr/>
        </p:nvSpPr>
        <p:spPr>
          <a:xfrm rot="0">
            <a:off x="9144000" y="5238750"/>
            <a:ext cx="8115300"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Key Features</a:t>
            </a:r>
          </a:p>
        </p:txBody>
      </p:sp>
      <p:sp>
        <p:nvSpPr>
          <p:cNvPr name="TextBox 8" id="8"/>
          <p:cNvSpPr txBox="true"/>
          <p:nvPr/>
        </p:nvSpPr>
        <p:spPr>
          <a:xfrm rot="0">
            <a:off x="10041195" y="6094095"/>
            <a:ext cx="6999640" cy="2887980"/>
          </a:xfrm>
          <a:prstGeom prst="rect">
            <a:avLst/>
          </a:prstGeom>
        </p:spPr>
        <p:txBody>
          <a:bodyPr anchor="t" rtlCol="false" tIns="0" lIns="0" bIns="0" rIns="0">
            <a:spAutoFit/>
          </a:bodyPr>
          <a:lstStyle/>
          <a:p>
            <a:pPr algn="l">
              <a:lnSpc>
                <a:spcPts val="3840"/>
              </a:lnSpc>
            </a:pPr>
            <a:r>
              <a:rPr lang="en-US" sz="2400" spc="-12">
                <a:solidFill>
                  <a:srgbClr val="331B0D"/>
                </a:solidFill>
                <a:latin typeface="Open Sauce"/>
                <a:ea typeface="Open Sauce"/>
                <a:cs typeface="Open Sauce"/>
                <a:sym typeface="Open Sauce"/>
              </a:rPr>
              <a:t>• Onl</a:t>
            </a:r>
            <a:r>
              <a:rPr lang="en-US" sz="2400" spc="-12">
                <a:solidFill>
                  <a:srgbClr val="331B0D"/>
                </a:solidFill>
                <a:latin typeface="Open Sauce"/>
                <a:ea typeface="Open Sauce"/>
                <a:cs typeface="Open Sauce"/>
                <a:sym typeface="Open Sauce"/>
              </a:rPr>
              <a:t>ine event ticket booking </a:t>
            </a:r>
          </a:p>
          <a:p>
            <a:pPr algn="l">
              <a:lnSpc>
                <a:spcPts val="3840"/>
              </a:lnSpc>
            </a:pPr>
            <a:r>
              <a:rPr lang="en-US" sz="2400" spc="-12">
                <a:solidFill>
                  <a:srgbClr val="331B0D"/>
                </a:solidFill>
                <a:latin typeface="Open Sauce"/>
                <a:ea typeface="Open Sauce"/>
                <a:cs typeface="Open Sauce"/>
                <a:sym typeface="Open Sauce"/>
              </a:rPr>
              <a:t>• Secure online payment integration </a:t>
            </a:r>
          </a:p>
          <a:p>
            <a:pPr algn="l">
              <a:lnSpc>
                <a:spcPts val="3840"/>
              </a:lnSpc>
            </a:pPr>
            <a:r>
              <a:rPr lang="en-US" sz="2400" spc="-12">
                <a:solidFill>
                  <a:srgbClr val="331B0D"/>
                </a:solidFill>
                <a:latin typeface="Open Sauce"/>
                <a:ea typeface="Open Sauce"/>
                <a:cs typeface="Open Sauce"/>
                <a:sym typeface="Open Sauce"/>
              </a:rPr>
              <a:t>• QR code–based ticket validation </a:t>
            </a:r>
          </a:p>
          <a:p>
            <a:pPr algn="l">
              <a:lnSpc>
                <a:spcPts val="3840"/>
              </a:lnSpc>
            </a:pPr>
            <a:r>
              <a:rPr lang="en-US" sz="2400" spc="-12">
                <a:solidFill>
                  <a:srgbClr val="331B0D"/>
                </a:solidFill>
                <a:latin typeface="Open Sauce"/>
                <a:ea typeface="Open Sauce"/>
                <a:cs typeface="Open Sauce"/>
                <a:sym typeface="Open Sauce"/>
              </a:rPr>
              <a:t>• Real-time ticket availability </a:t>
            </a:r>
          </a:p>
          <a:p>
            <a:pPr algn="l">
              <a:lnSpc>
                <a:spcPts val="3840"/>
              </a:lnSpc>
            </a:pPr>
            <a:r>
              <a:rPr lang="en-US" sz="2400" spc="-12">
                <a:solidFill>
                  <a:srgbClr val="331B0D"/>
                </a:solidFill>
                <a:latin typeface="Open Sauce"/>
                <a:ea typeface="Open Sauce"/>
                <a:cs typeface="Open Sauce"/>
                <a:sym typeface="Open Sauce"/>
              </a:rPr>
              <a:t>• User and admin role management </a:t>
            </a:r>
          </a:p>
          <a:p>
            <a:pPr algn="l">
              <a:lnSpc>
                <a:spcPts val="384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10</a:t>
            </a:r>
          </a:p>
        </p:txBody>
      </p:sp>
      <p:sp>
        <p:nvSpPr>
          <p:cNvPr name="TextBox 3" id="3"/>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b</a:t>
            </a:r>
            <a:r>
              <a:rPr lang="en-US" b="true" sz="1800" spc="179">
                <a:solidFill>
                  <a:srgbClr val="8C7753"/>
                </a:solidFill>
                <a:latin typeface="Open Sauce Bold"/>
                <a:ea typeface="Open Sauce Bold"/>
                <a:cs typeface="Open Sauce Bold"/>
                <a:sym typeface="Open Sauce Bold"/>
              </a:rPr>
              <a:t>atch 09</a:t>
            </a:r>
          </a:p>
        </p:txBody>
      </p:sp>
      <p:sp>
        <p:nvSpPr>
          <p:cNvPr name="TextBox 4" id="4"/>
          <p:cNvSpPr txBox="true"/>
          <p:nvPr/>
        </p:nvSpPr>
        <p:spPr>
          <a:xfrm rot="0">
            <a:off x="6852627" y="1123950"/>
            <a:ext cx="4354316"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Output Screens</a:t>
            </a:r>
          </a:p>
        </p:txBody>
      </p:sp>
      <p:grpSp>
        <p:nvGrpSpPr>
          <p:cNvPr name="Group 5" id="5"/>
          <p:cNvGrpSpPr/>
          <p:nvPr/>
        </p:nvGrpSpPr>
        <p:grpSpPr>
          <a:xfrm rot="0">
            <a:off x="202643" y="2185349"/>
            <a:ext cx="5606781" cy="2562618"/>
            <a:chOff x="0" y="0"/>
            <a:chExt cx="3162999" cy="1445671"/>
          </a:xfrm>
        </p:grpSpPr>
        <p:sp>
          <p:nvSpPr>
            <p:cNvPr name="Freeform 6" id="6"/>
            <p:cNvSpPr/>
            <p:nvPr/>
          </p:nvSpPr>
          <p:spPr>
            <a:xfrm flipH="false" flipV="false" rot="0">
              <a:off x="0" y="0"/>
              <a:ext cx="3162999" cy="1445671"/>
            </a:xfrm>
            <a:custGeom>
              <a:avLst/>
              <a:gdLst/>
              <a:ahLst/>
              <a:cxnLst/>
              <a:rect r="r" b="b" t="t" l="l"/>
              <a:pathLst>
                <a:path h="1445671" w="3162999">
                  <a:moveTo>
                    <a:pt x="12427" y="0"/>
                  </a:moveTo>
                  <a:lnTo>
                    <a:pt x="3150572" y="0"/>
                  </a:lnTo>
                  <a:cubicBezTo>
                    <a:pt x="3157435" y="0"/>
                    <a:pt x="3162999" y="5564"/>
                    <a:pt x="3162999" y="12427"/>
                  </a:cubicBezTo>
                  <a:lnTo>
                    <a:pt x="3162999" y="1433244"/>
                  </a:lnTo>
                  <a:cubicBezTo>
                    <a:pt x="3162999" y="1440107"/>
                    <a:pt x="3157435" y="1445671"/>
                    <a:pt x="3150572" y="1445671"/>
                  </a:cubicBezTo>
                  <a:lnTo>
                    <a:pt x="12427" y="1445671"/>
                  </a:lnTo>
                  <a:cubicBezTo>
                    <a:pt x="5564" y="1445671"/>
                    <a:pt x="0" y="1440107"/>
                    <a:pt x="0" y="1433244"/>
                  </a:cubicBezTo>
                  <a:lnTo>
                    <a:pt x="0" y="12427"/>
                  </a:lnTo>
                  <a:cubicBezTo>
                    <a:pt x="0" y="5564"/>
                    <a:pt x="5564" y="0"/>
                    <a:pt x="12427" y="0"/>
                  </a:cubicBezTo>
                  <a:close/>
                </a:path>
              </a:pathLst>
            </a:custGeom>
            <a:solidFill>
              <a:srgbClr val="8C7753">
                <a:alpha val="87843"/>
              </a:srgbClr>
            </a:solidFill>
            <a:ln cap="sq">
              <a:noFill/>
              <a:prstDash val="solid"/>
              <a:miter/>
            </a:ln>
          </p:spPr>
        </p:sp>
        <p:sp>
          <p:nvSpPr>
            <p:cNvPr name="TextBox 7" id="7"/>
            <p:cNvSpPr txBox="true"/>
            <p:nvPr/>
          </p:nvSpPr>
          <p:spPr>
            <a:xfrm>
              <a:off x="0" y="-47625"/>
              <a:ext cx="3162999" cy="1493296"/>
            </a:xfrm>
            <a:prstGeom prst="rect">
              <a:avLst/>
            </a:prstGeom>
          </p:spPr>
          <p:txBody>
            <a:bodyPr anchor="ctr" rtlCol="false" tIns="50800" lIns="50800" bIns="50800" rIns="50800"/>
            <a:lstStyle/>
            <a:p>
              <a:pPr algn="ctr" marL="0" indent="0" lvl="0">
                <a:lnSpc>
                  <a:spcPts val="3587"/>
                </a:lnSpc>
                <a:spcBef>
                  <a:spcPct val="0"/>
                </a:spcBef>
              </a:pPr>
            </a:p>
          </p:txBody>
        </p:sp>
      </p:grpSp>
      <p:grpSp>
        <p:nvGrpSpPr>
          <p:cNvPr name="Group 8" id="8"/>
          <p:cNvGrpSpPr/>
          <p:nvPr/>
        </p:nvGrpSpPr>
        <p:grpSpPr>
          <a:xfrm rot="0">
            <a:off x="6323682" y="2185349"/>
            <a:ext cx="5606781" cy="2562618"/>
            <a:chOff x="0" y="0"/>
            <a:chExt cx="3162999" cy="1445671"/>
          </a:xfrm>
        </p:grpSpPr>
        <p:sp>
          <p:nvSpPr>
            <p:cNvPr name="Freeform 9" id="9"/>
            <p:cNvSpPr/>
            <p:nvPr/>
          </p:nvSpPr>
          <p:spPr>
            <a:xfrm flipH="false" flipV="false" rot="0">
              <a:off x="0" y="0"/>
              <a:ext cx="3162999" cy="1445671"/>
            </a:xfrm>
            <a:custGeom>
              <a:avLst/>
              <a:gdLst/>
              <a:ahLst/>
              <a:cxnLst/>
              <a:rect r="r" b="b" t="t" l="l"/>
              <a:pathLst>
                <a:path h="1445671" w="3162999">
                  <a:moveTo>
                    <a:pt x="12427" y="0"/>
                  </a:moveTo>
                  <a:lnTo>
                    <a:pt x="3150572" y="0"/>
                  </a:lnTo>
                  <a:cubicBezTo>
                    <a:pt x="3157435" y="0"/>
                    <a:pt x="3162999" y="5564"/>
                    <a:pt x="3162999" y="12427"/>
                  </a:cubicBezTo>
                  <a:lnTo>
                    <a:pt x="3162999" y="1433244"/>
                  </a:lnTo>
                  <a:cubicBezTo>
                    <a:pt x="3162999" y="1440107"/>
                    <a:pt x="3157435" y="1445671"/>
                    <a:pt x="3150572" y="1445671"/>
                  </a:cubicBezTo>
                  <a:lnTo>
                    <a:pt x="12427" y="1445671"/>
                  </a:lnTo>
                  <a:cubicBezTo>
                    <a:pt x="5564" y="1445671"/>
                    <a:pt x="0" y="1440107"/>
                    <a:pt x="0" y="1433244"/>
                  </a:cubicBezTo>
                  <a:lnTo>
                    <a:pt x="0" y="12427"/>
                  </a:lnTo>
                  <a:cubicBezTo>
                    <a:pt x="0" y="5564"/>
                    <a:pt x="5564" y="0"/>
                    <a:pt x="12427" y="0"/>
                  </a:cubicBezTo>
                  <a:close/>
                </a:path>
              </a:pathLst>
            </a:custGeom>
            <a:solidFill>
              <a:srgbClr val="8C7753">
                <a:alpha val="87843"/>
              </a:srgbClr>
            </a:solidFill>
            <a:ln cap="sq">
              <a:noFill/>
              <a:prstDash val="solid"/>
              <a:miter/>
            </a:ln>
          </p:spPr>
        </p:sp>
        <p:sp>
          <p:nvSpPr>
            <p:cNvPr name="TextBox 10" id="10"/>
            <p:cNvSpPr txBox="true"/>
            <p:nvPr/>
          </p:nvSpPr>
          <p:spPr>
            <a:xfrm>
              <a:off x="0" y="-47625"/>
              <a:ext cx="3162999" cy="1493296"/>
            </a:xfrm>
            <a:prstGeom prst="rect">
              <a:avLst/>
            </a:prstGeom>
          </p:spPr>
          <p:txBody>
            <a:bodyPr anchor="ctr" rtlCol="false" tIns="50800" lIns="50800" bIns="50800" rIns="50800"/>
            <a:lstStyle/>
            <a:p>
              <a:pPr algn="ctr" marL="0" indent="0" lvl="0">
                <a:lnSpc>
                  <a:spcPts val="3587"/>
                </a:lnSpc>
                <a:spcBef>
                  <a:spcPct val="0"/>
                </a:spcBef>
              </a:pPr>
            </a:p>
          </p:txBody>
        </p:sp>
      </p:grpSp>
      <p:grpSp>
        <p:nvGrpSpPr>
          <p:cNvPr name="Group 11" id="11"/>
          <p:cNvGrpSpPr/>
          <p:nvPr/>
        </p:nvGrpSpPr>
        <p:grpSpPr>
          <a:xfrm rot="0">
            <a:off x="12443840" y="2185349"/>
            <a:ext cx="5606781" cy="2562618"/>
            <a:chOff x="0" y="0"/>
            <a:chExt cx="3162999" cy="1445671"/>
          </a:xfrm>
        </p:grpSpPr>
        <p:sp>
          <p:nvSpPr>
            <p:cNvPr name="Freeform 12" id="12"/>
            <p:cNvSpPr/>
            <p:nvPr/>
          </p:nvSpPr>
          <p:spPr>
            <a:xfrm flipH="false" flipV="false" rot="0">
              <a:off x="0" y="0"/>
              <a:ext cx="3162999" cy="1445671"/>
            </a:xfrm>
            <a:custGeom>
              <a:avLst/>
              <a:gdLst/>
              <a:ahLst/>
              <a:cxnLst/>
              <a:rect r="r" b="b" t="t" l="l"/>
              <a:pathLst>
                <a:path h="1445671" w="3162999">
                  <a:moveTo>
                    <a:pt x="12427" y="0"/>
                  </a:moveTo>
                  <a:lnTo>
                    <a:pt x="3150572" y="0"/>
                  </a:lnTo>
                  <a:cubicBezTo>
                    <a:pt x="3157435" y="0"/>
                    <a:pt x="3162999" y="5564"/>
                    <a:pt x="3162999" y="12427"/>
                  </a:cubicBezTo>
                  <a:lnTo>
                    <a:pt x="3162999" y="1433244"/>
                  </a:lnTo>
                  <a:cubicBezTo>
                    <a:pt x="3162999" y="1440107"/>
                    <a:pt x="3157435" y="1445671"/>
                    <a:pt x="3150572" y="1445671"/>
                  </a:cubicBezTo>
                  <a:lnTo>
                    <a:pt x="12427" y="1445671"/>
                  </a:lnTo>
                  <a:cubicBezTo>
                    <a:pt x="5564" y="1445671"/>
                    <a:pt x="0" y="1440107"/>
                    <a:pt x="0" y="1433244"/>
                  </a:cubicBezTo>
                  <a:lnTo>
                    <a:pt x="0" y="12427"/>
                  </a:lnTo>
                  <a:cubicBezTo>
                    <a:pt x="0" y="5564"/>
                    <a:pt x="5564" y="0"/>
                    <a:pt x="12427" y="0"/>
                  </a:cubicBezTo>
                  <a:close/>
                </a:path>
              </a:pathLst>
            </a:custGeom>
            <a:solidFill>
              <a:srgbClr val="8C7753">
                <a:alpha val="87843"/>
              </a:srgbClr>
            </a:solidFill>
            <a:ln cap="sq">
              <a:noFill/>
              <a:prstDash val="solid"/>
              <a:miter/>
            </a:ln>
          </p:spPr>
        </p:sp>
        <p:sp>
          <p:nvSpPr>
            <p:cNvPr name="TextBox 13" id="13"/>
            <p:cNvSpPr txBox="true"/>
            <p:nvPr/>
          </p:nvSpPr>
          <p:spPr>
            <a:xfrm>
              <a:off x="0" y="-47625"/>
              <a:ext cx="3162999" cy="1493296"/>
            </a:xfrm>
            <a:prstGeom prst="rect">
              <a:avLst/>
            </a:prstGeom>
          </p:spPr>
          <p:txBody>
            <a:bodyPr anchor="ctr" rtlCol="false" tIns="50800" lIns="50800" bIns="50800" rIns="50800"/>
            <a:lstStyle/>
            <a:p>
              <a:pPr algn="ctr" marL="0" indent="0" lvl="0">
                <a:lnSpc>
                  <a:spcPts val="3587"/>
                </a:lnSpc>
                <a:spcBef>
                  <a:spcPct val="0"/>
                </a:spcBef>
              </a:pPr>
            </a:p>
          </p:txBody>
        </p:sp>
      </p:grpSp>
      <p:grpSp>
        <p:nvGrpSpPr>
          <p:cNvPr name="Group 14" id="14"/>
          <p:cNvGrpSpPr/>
          <p:nvPr/>
        </p:nvGrpSpPr>
        <p:grpSpPr>
          <a:xfrm rot="0">
            <a:off x="202643" y="5749962"/>
            <a:ext cx="5606781" cy="2562618"/>
            <a:chOff x="0" y="0"/>
            <a:chExt cx="3162999" cy="1445671"/>
          </a:xfrm>
        </p:grpSpPr>
        <p:sp>
          <p:nvSpPr>
            <p:cNvPr name="Freeform 15" id="15"/>
            <p:cNvSpPr/>
            <p:nvPr/>
          </p:nvSpPr>
          <p:spPr>
            <a:xfrm flipH="false" flipV="false" rot="0">
              <a:off x="0" y="0"/>
              <a:ext cx="3162999" cy="1445671"/>
            </a:xfrm>
            <a:custGeom>
              <a:avLst/>
              <a:gdLst/>
              <a:ahLst/>
              <a:cxnLst/>
              <a:rect r="r" b="b" t="t" l="l"/>
              <a:pathLst>
                <a:path h="1445671" w="3162999">
                  <a:moveTo>
                    <a:pt x="12427" y="0"/>
                  </a:moveTo>
                  <a:lnTo>
                    <a:pt x="3150572" y="0"/>
                  </a:lnTo>
                  <a:cubicBezTo>
                    <a:pt x="3157435" y="0"/>
                    <a:pt x="3162999" y="5564"/>
                    <a:pt x="3162999" y="12427"/>
                  </a:cubicBezTo>
                  <a:lnTo>
                    <a:pt x="3162999" y="1433244"/>
                  </a:lnTo>
                  <a:cubicBezTo>
                    <a:pt x="3162999" y="1440107"/>
                    <a:pt x="3157435" y="1445671"/>
                    <a:pt x="3150572" y="1445671"/>
                  </a:cubicBezTo>
                  <a:lnTo>
                    <a:pt x="12427" y="1445671"/>
                  </a:lnTo>
                  <a:cubicBezTo>
                    <a:pt x="5564" y="1445671"/>
                    <a:pt x="0" y="1440107"/>
                    <a:pt x="0" y="1433244"/>
                  </a:cubicBezTo>
                  <a:lnTo>
                    <a:pt x="0" y="12427"/>
                  </a:lnTo>
                  <a:cubicBezTo>
                    <a:pt x="0" y="5564"/>
                    <a:pt x="5564" y="0"/>
                    <a:pt x="12427" y="0"/>
                  </a:cubicBezTo>
                  <a:close/>
                </a:path>
              </a:pathLst>
            </a:custGeom>
            <a:solidFill>
              <a:srgbClr val="8C7753">
                <a:alpha val="87843"/>
              </a:srgbClr>
            </a:solidFill>
            <a:ln cap="sq">
              <a:noFill/>
              <a:prstDash val="solid"/>
              <a:miter/>
            </a:ln>
          </p:spPr>
        </p:sp>
        <p:sp>
          <p:nvSpPr>
            <p:cNvPr name="TextBox 16" id="16"/>
            <p:cNvSpPr txBox="true"/>
            <p:nvPr/>
          </p:nvSpPr>
          <p:spPr>
            <a:xfrm>
              <a:off x="0" y="-47625"/>
              <a:ext cx="3162999" cy="1493296"/>
            </a:xfrm>
            <a:prstGeom prst="rect">
              <a:avLst/>
            </a:prstGeom>
          </p:spPr>
          <p:txBody>
            <a:bodyPr anchor="ctr" rtlCol="false" tIns="50800" lIns="50800" bIns="50800" rIns="50800"/>
            <a:lstStyle/>
            <a:p>
              <a:pPr algn="ctr" marL="0" indent="0" lvl="0">
                <a:lnSpc>
                  <a:spcPts val="3587"/>
                </a:lnSpc>
                <a:spcBef>
                  <a:spcPct val="0"/>
                </a:spcBef>
              </a:pPr>
            </a:p>
          </p:txBody>
        </p:sp>
      </p:grpSp>
      <p:grpSp>
        <p:nvGrpSpPr>
          <p:cNvPr name="Group 17" id="17"/>
          <p:cNvGrpSpPr/>
          <p:nvPr/>
        </p:nvGrpSpPr>
        <p:grpSpPr>
          <a:xfrm rot="0">
            <a:off x="6323682" y="5749962"/>
            <a:ext cx="5606781" cy="2562618"/>
            <a:chOff x="0" y="0"/>
            <a:chExt cx="3162999" cy="1445671"/>
          </a:xfrm>
        </p:grpSpPr>
        <p:sp>
          <p:nvSpPr>
            <p:cNvPr name="Freeform 18" id="18"/>
            <p:cNvSpPr/>
            <p:nvPr/>
          </p:nvSpPr>
          <p:spPr>
            <a:xfrm flipH="false" flipV="false" rot="0">
              <a:off x="0" y="0"/>
              <a:ext cx="3162999" cy="1445671"/>
            </a:xfrm>
            <a:custGeom>
              <a:avLst/>
              <a:gdLst/>
              <a:ahLst/>
              <a:cxnLst/>
              <a:rect r="r" b="b" t="t" l="l"/>
              <a:pathLst>
                <a:path h="1445671" w="3162999">
                  <a:moveTo>
                    <a:pt x="12427" y="0"/>
                  </a:moveTo>
                  <a:lnTo>
                    <a:pt x="3150572" y="0"/>
                  </a:lnTo>
                  <a:cubicBezTo>
                    <a:pt x="3157435" y="0"/>
                    <a:pt x="3162999" y="5564"/>
                    <a:pt x="3162999" y="12427"/>
                  </a:cubicBezTo>
                  <a:lnTo>
                    <a:pt x="3162999" y="1433244"/>
                  </a:lnTo>
                  <a:cubicBezTo>
                    <a:pt x="3162999" y="1440107"/>
                    <a:pt x="3157435" y="1445671"/>
                    <a:pt x="3150572" y="1445671"/>
                  </a:cubicBezTo>
                  <a:lnTo>
                    <a:pt x="12427" y="1445671"/>
                  </a:lnTo>
                  <a:cubicBezTo>
                    <a:pt x="5564" y="1445671"/>
                    <a:pt x="0" y="1440107"/>
                    <a:pt x="0" y="1433244"/>
                  </a:cubicBezTo>
                  <a:lnTo>
                    <a:pt x="0" y="12427"/>
                  </a:lnTo>
                  <a:cubicBezTo>
                    <a:pt x="0" y="5564"/>
                    <a:pt x="5564" y="0"/>
                    <a:pt x="12427" y="0"/>
                  </a:cubicBezTo>
                  <a:close/>
                </a:path>
              </a:pathLst>
            </a:custGeom>
            <a:solidFill>
              <a:srgbClr val="8C7753">
                <a:alpha val="87843"/>
              </a:srgbClr>
            </a:solidFill>
            <a:ln cap="sq">
              <a:noFill/>
              <a:prstDash val="solid"/>
              <a:miter/>
            </a:ln>
          </p:spPr>
        </p:sp>
        <p:sp>
          <p:nvSpPr>
            <p:cNvPr name="TextBox 19" id="19"/>
            <p:cNvSpPr txBox="true"/>
            <p:nvPr/>
          </p:nvSpPr>
          <p:spPr>
            <a:xfrm>
              <a:off x="0" y="-47625"/>
              <a:ext cx="3162999" cy="1493296"/>
            </a:xfrm>
            <a:prstGeom prst="rect">
              <a:avLst/>
            </a:prstGeom>
          </p:spPr>
          <p:txBody>
            <a:bodyPr anchor="ctr" rtlCol="false" tIns="50800" lIns="50800" bIns="50800" rIns="50800"/>
            <a:lstStyle/>
            <a:p>
              <a:pPr algn="ctr" marL="0" indent="0" lvl="0">
                <a:lnSpc>
                  <a:spcPts val="3587"/>
                </a:lnSpc>
                <a:spcBef>
                  <a:spcPct val="0"/>
                </a:spcBef>
              </a:pPr>
            </a:p>
          </p:txBody>
        </p:sp>
      </p:grpSp>
      <p:grpSp>
        <p:nvGrpSpPr>
          <p:cNvPr name="Group 20" id="20"/>
          <p:cNvGrpSpPr/>
          <p:nvPr/>
        </p:nvGrpSpPr>
        <p:grpSpPr>
          <a:xfrm rot="0">
            <a:off x="12443840" y="5749962"/>
            <a:ext cx="5606781" cy="2562618"/>
            <a:chOff x="0" y="0"/>
            <a:chExt cx="3162999" cy="1445671"/>
          </a:xfrm>
        </p:grpSpPr>
        <p:sp>
          <p:nvSpPr>
            <p:cNvPr name="Freeform 21" id="21"/>
            <p:cNvSpPr/>
            <p:nvPr/>
          </p:nvSpPr>
          <p:spPr>
            <a:xfrm flipH="false" flipV="false" rot="0">
              <a:off x="0" y="0"/>
              <a:ext cx="3162999" cy="1445671"/>
            </a:xfrm>
            <a:custGeom>
              <a:avLst/>
              <a:gdLst/>
              <a:ahLst/>
              <a:cxnLst/>
              <a:rect r="r" b="b" t="t" l="l"/>
              <a:pathLst>
                <a:path h="1445671" w="3162999">
                  <a:moveTo>
                    <a:pt x="12427" y="0"/>
                  </a:moveTo>
                  <a:lnTo>
                    <a:pt x="3150572" y="0"/>
                  </a:lnTo>
                  <a:cubicBezTo>
                    <a:pt x="3157435" y="0"/>
                    <a:pt x="3162999" y="5564"/>
                    <a:pt x="3162999" y="12427"/>
                  </a:cubicBezTo>
                  <a:lnTo>
                    <a:pt x="3162999" y="1433244"/>
                  </a:lnTo>
                  <a:cubicBezTo>
                    <a:pt x="3162999" y="1440107"/>
                    <a:pt x="3157435" y="1445671"/>
                    <a:pt x="3150572" y="1445671"/>
                  </a:cubicBezTo>
                  <a:lnTo>
                    <a:pt x="12427" y="1445671"/>
                  </a:lnTo>
                  <a:cubicBezTo>
                    <a:pt x="5564" y="1445671"/>
                    <a:pt x="0" y="1440107"/>
                    <a:pt x="0" y="1433244"/>
                  </a:cubicBezTo>
                  <a:lnTo>
                    <a:pt x="0" y="12427"/>
                  </a:lnTo>
                  <a:cubicBezTo>
                    <a:pt x="0" y="5564"/>
                    <a:pt x="5564" y="0"/>
                    <a:pt x="12427" y="0"/>
                  </a:cubicBezTo>
                  <a:close/>
                </a:path>
              </a:pathLst>
            </a:custGeom>
            <a:solidFill>
              <a:srgbClr val="8C7753">
                <a:alpha val="87843"/>
              </a:srgbClr>
            </a:solidFill>
            <a:ln cap="sq">
              <a:noFill/>
              <a:prstDash val="solid"/>
              <a:miter/>
            </a:ln>
          </p:spPr>
        </p:sp>
        <p:sp>
          <p:nvSpPr>
            <p:cNvPr name="TextBox 22" id="22"/>
            <p:cNvSpPr txBox="true"/>
            <p:nvPr/>
          </p:nvSpPr>
          <p:spPr>
            <a:xfrm>
              <a:off x="0" y="-47625"/>
              <a:ext cx="3162999" cy="1493296"/>
            </a:xfrm>
            <a:prstGeom prst="rect">
              <a:avLst/>
            </a:prstGeom>
          </p:spPr>
          <p:txBody>
            <a:bodyPr anchor="ctr" rtlCol="false" tIns="50800" lIns="50800" bIns="50800" rIns="50800"/>
            <a:lstStyle/>
            <a:p>
              <a:pPr algn="ctr" marL="0" indent="0" lvl="0">
                <a:lnSpc>
                  <a:spcPts val="3587"/>
                </a:lnSpc>
                <a:spcBef>
                  <a:spcPct val="0"/>
                </a:spcBef>
              </a:pPr>
            </a:p>
          </p:txBody>
        </p:sp>
      </p:grpSp>
      <p:sp>
        <p:nvSpPr>
          <p:cNvPr name="Freeform 23" id="23"/>
          <p:cNvSpPr/>
          <p:nvPr/>
        </p:nvSpPr>
        <p:spPr>
          <a:xfrm flipH="false" flipV="false" rot="0">
            <a:off x="448227" y="2403830"/>
            <a:ext cx="5115612" cy="2125656"/>
          </a:xfrm>
          <a:custGeom>
            <a:avLst/>
            <a:gdLst/>
            <a:ahLst/>
            <a:cxnLst/>
            <a:rect r="r" b="b" t="t" l="l"/>
            <a:pathLst>
              <a:path h="2125656" w="5115612">
                <a:moveTo>
                  <a:pt x="0" y="0"/>
                </a:moveTo>
                <a:lnTo>
                  <a:pt x="5115612" y="0"/>
                </a:lnTo>
                <a:lnTo>
                  <a:pt x="5115612" y="2125657"/>
                </a:lnTo>
                <a:lnTo>
                  <a:pt x="0" y="2125657"/>
                </a:lnTo>
                <a:lnTo>
                  <a:pt x="0" y="0"/>
                </a:lnTo>
                <a:close/>
              </a:path>
            </a:pathLst>
          </a:custGeom>
          <a:blipFill>
            <a:blip r:embed="rId2"/>
            <a:stretch>
              <a:fillRect l="0" t="-7608" r="0" b="-7608"/>
            </a:stretch>
          </a:blipFill>
        </p:spPr>
      </p:sp>
      <p:sp>
        <p:nvSpPr>
          <p:cNvPr name="Freeform 24" id="24"/>
          <p:cNvSpPr/>
          <p:nvPr/>
        </p:nvSpPr>
        <p:spPr>
          <a:xfrm flipH="false" flipV="false" rot="0">
            <a:off x="6568880" y="2398326"/>
            <a:ext cx="5115504" cy="2131161"/>
          </a:xfrm>
          <a:custGeom>
            <a:avLst/>
            <a:gdLst/>
            <a:ahLst/>
            <a:cxnLst/>
            <a:rect r="r" b="b" t="t" l="l"/>
            <a:pathLst>
              <a:path h="2131161" w="5115504">
                <a:moveTo>
                  <a:pt x="0" y="0"/>
                </a:moveTo>
                <a:lnTo>
                  <a:pt x="5115504" y="0"/>
                </a:lnTo>
                <a:lnTo>
                  <a:pt x="5115504" y="2131161"/>
                </a:lnTo>
                <a:lnTo>
                  <a:pt x="0" y="2131161"/>
                </a:lnTo>
                <a:lnTo>
                  <a:pt x="0" y="0"/>
                </a:lnTo>
                <a:close/>
              </a:path>
            </a:pathLst>
          </a:custGeom>
          <a:blipFill>
            <a:blip r:embed="rId3"/>
            <a:stretch>
              <a:fillRect l="0" t="-7608" r="0" b="-7608"/>
            </a:stretch>
          </a:blipFill>
        </p:spPr>
      </p:sp>
      <p:sp>
        <p:nvSpPr>
          <p:cNvPr name="Freeform 25" id="25"/>
          <p:cNvSpPr/>
          <p:nvPr/>
        </p:nvSpPr>
        <p:spPr>
          <a:xfrm flipH="false" flipV="false" rot="0">
            <a:off x="12692938" y="2398326"/>
            <a:ext cx="5108585" cy="2100567"/>
          </a:xfrm>
          <a:custGeom>
            <a:avLst/>
            <a:gdLst/>
            <a:ahLst/>
            <a:cxnLst/>
            <a:rect r="r" b="b" t="t" l="l"/>
            <a:pathLst>
              <a:path h="2100567" w="5108585">
                <a:moveTo>
                  <a:pt x="0" y="0"/>
                </a:moveTo>
                <a:lnTo>
                  <a:pt x="5108585" y="0"/>
                </a:lnTo>
                <a:lnTo>
                  <a:pt x="5108585" y="2100566"/>
                </a:lnTo>
                <a:lnTo>
                  <a:pt x="0" y="2100566"/>
                </a:lnTo>
                <a:lnTo>
                  <a:pt x="0" y="0"/>
                </a:lnTo>
                <a:close/>
              </a:path>
            </a:pathLst>
          </a:custGeom>
          <a:blipFill>
            <a:blip r:embed="rId4"/>
            <a:stretch>
              <a:fillRect l="0" t="-7608" r="0" b="-7608"/>
            </a:stretch>
          </a:blipFill>
        </p:spPr>
      </p:sp>
      <p:sp>
        <p:nvSpPr>
          <p:cNvPr name="Freeform 26" id="26"/>
          <p:cNvSpPr/>
          <p:nvPr/>
        </p:nvSpPr>
        <p:spPr>
          <a:xfrm flipH="false" flipV="false" rot="0">
            <a:off x="453856" y="5977929"/>
            <a:ext cx="5109983" cy="2106686"/>
          </a:xfrm>
          <a:custGeom>
            <a:avLst/>
            <a:gdLst/>
            <a:ahLst/>
            <a:cxnLst/>
            <a:rect r="r" b="b" t="t" l="l"/>
            <a:pathLst>
              <a:path h="2106686" w="5109983">
                <a:moveTo>
                  <a:pt x="0" y="0"/>
                </a:moveTo>
                <a:lnTo>
                  <a:pt x="5109983" y="0"/>
                </a:lnTo>
                <a:lnTo>
                  <a:pt x="5109983" y="2106685"/>
                </a:lnTo>
                <a:lnTo>
                  <a:pt x="0" y="2106685"/>
                </a:lnTo>
                <a:lnTo>
                  <a:pt x="0" y="0"/>
                </a:lnTo>
                <a:close/>
              </a:path>
            </a:pathLst>
          </a:custGeom>
          <a:blipFill>
            <a:blip r:embed="rId5"/>
            <a:stretch>
              <a:fillRect l="0" t="-7608" r="0" b="-7608"/>
            </a:stretch>
          </a:blipFill>
        </p:spPr>
      </p:sp>
      <p:sp>
        <p:nvSpPr>
          <p:cNvPr name="Freeform 27" id="27"/>
          <p:cNvSpPr/>
          <p:nvPr/>
        </p:nvSpPr>
        <p:spPr>
          <a:xfrm flipH="false" flipV="false" rot="0">
            <a:off x="6574400" y="5977929"/>
            <a:ext cx="5109983" cy="2106686"/>
          </a:xfrm>
          <a:custGeom>
            <a:avLst/>
            <a:gdLst/>
            <a:ahLst/>
            <a:cxnLst/>
            <a:rect r="r" b="b" t="t" l="l"/>
            <a:pathLst>
              <a:path h="2106686" w="5109983">
                <a:moveTo>
                  <a:pt x="0" y="0"/>
                </a:moveTo>
                <a:lnTo>
                  <a:pt x="5109984" y="0"/>
                </a:lnTo>
                <a:lnTo>
                  <a:pt x="5109984" y="2106685"/>
                </a:lnTo>
                <a:lnTo>
                  <a:pt x="0" y="2106685"/>
                </a:lnTo>
                <a:lnTo>
                  <a:pt x="0" y="0"/>
                </a:lnTo>
                <a:close/>
              </a:path>
            </a:pathLst>
          </a:custGeom>
          <a:blipFill>
            <a:blip r:embed="rId6"/>
            <a:stretch>
              <a:fillRect l="0" t="-7608" r="0" b="-7608"/>
            </a:stretch>
          </a:blipFill>
        </p:spPr>
      </p:sp>
      <p:sp>
        <p:nvSpPr>
          <p:cNvPr name="Freeform 28" id="28"/>
          <p:cNvSpPr/>
          <p:nvPr/>
        </p:nvSpPr>
        <p:spPr>
          <a:xfrm flipH="false" flipV="false" rot="0">
            <a:off x="12688765" y="5965691"/>
            <a:ext cx="5112758" cy="2118923"/>
          </a:xfrm>
          <a:custGeom>
            <a:avLst/>
            <a:gdLst/>
            <a:ahLst/>
            <a:cxnLst/>
            <a:rect r="r" b="b" t="t" l="l"/>
            <a:pathLst>
              <a:path h="2118923" w="5112758">
                <a:moveTo>
                  <a:pt x="0" y="0"/>
                </a:moveTo>
                <a:lnTo>
                  <a:pt x="5112758" y="0"/>
                </a:lnTo>
                <a:lnTo>
                  <a:pt x="5112758" y="2118923"/>
                </a:lnTo>
                <a:lnTo>
                  <a:pt x="0" y="2118923"/>
                </a:lnTo>
                <a:lnTo>
                  <a:pt x="0" y="0"/>
                </a:lnTo>
                <a:close/>
              </a:path>
            </a:pathLst>
          </a:custGeom>
          <a:blipFill>
            <a:blip r:embed="rId7"/>
            <a:stretch>
              <a:fillRect l="0" t="-7608" r="0" b="-7608"/>
            </a:stretch>
          </a:blipFill>
        </p:spPr>
      </p:sp>
      <p:sp>
        <p:nvSpPr>
          <p:cNvPr name="TextBox 29" id="29"/>
          <p:cNvSpPr txBox="true"/>
          <p:nvPr/>
        </p:nvSpPr>
        <p:spPr>
          <a:xfrm rot="0">
            <a:off x="332103" y="4841629"/>
            <a:ext cx="5784503" cy="376740"/>
          </a:xfrm>
          <a:prstGeom prst="rect">
            <a:avLst/>
          </a:prstGeom>
        </p:spPr>
        <p:txBody>
          <a:bodyPr anchor="t" rtlCol="false" tIns="0" lIns="0" bIns="0" rIns="0">
            <a:spAutoFit/>
          </a:bodyPr>
          <a:lstStyle/>
          <a:p>
            <a:pPr algn="l" marL="0" indent="0" lvl="0">
              <a:lnSpc>
                <a:spcPts val="3083"/>
              </a:lnSpc>
              <a:spcBef>
                <a:spcPct val="0"/>
              </a:spcBef>
            </a:pPr>
            <a:r>
              <a:rPr lang="en-US" b="true" sz="2372" spc="-11">
                <a:solidFill>
                  <a:srgbClr val="5F0F15"/>
                </a:solidFill>
                <a:latin typeface="HK Grotesk Bold"/>
                <a:ea typeface="HK Grotesk Bold"/>
                <a:cs typeface="HK Grotesk Bold"/>
                <a:sym typeface="HK Grotesk Bold"/>
              </a:rPr>
              <a:t> User Login and Registration Screen  </a:t>
            </a:r>
          </a:p>
        </p:txBody>
      </p:sp>
      <p:sp>
        <p:nvSpPr>
          <p:cNvPr name="TextBox 30" id="30"/>
          <p:cNvSpPr txBox="true"/>
          <p:nvPr/>
        </p:nvSpPr>
        <p:spPr>
          <a:xfrm rot="0">
            <a:off x="7642951" y="4841629"/>
            <a:ext cx="5784503" cy="376740"/>
          </a:xfrm>
          <a:prstGeom prst="rect">
            <a:avLst/>
          </a:prstGeom>
        </p:spPr>
        <p:txBody>
          <a:bodyPr anchor="t" rtlCol="false" tIns="0" lIns="0" bIns="0" rIns="0">
            <a:spAutoFit/>
          </a:bodyPr>
          <a:lstStyle/>
          <a:p>
            <a:pPr algn="l" marL="0" indent="0" lvl="0">
              <a:lnSpc>
                <a:spcPts val="3083"/>
              </a:lnSpc>
              <a:spcBef>
                <a:spcPct val="0"/>
              </a:spcBef>
            </a:pPr>
            <a:r>
              <a:rPr lang="en-US" b="true" sz="2372" spc="-11">
                <a:solidFill>
                  <a:srgbClr val="5F0F15"/>
                </a:solidFill>
                <a:latin typeface="HK Grotesk Bold"/>
                <a:ea typeface="HK Grotesk Bold"/>
                <a:cs typeface="HK Grotesk Bold"/>
                <a:sym typeface="HK Grotesk Bold"/>
              </a:rPr>
              <a:t>Event Listing Screen</a:t>
            </a:r>
          </a:p>
        </p:txBody>
      </p:sp>
      <p:sp>
        <p:nvSpPr>
          <p:cNvPr name="TextBox 31" id="31"/>
          <p:cNvSpPr txBox="true"/>
          <p:nvPr/>
        </p:nvSpPr>
        <p:spPr>
          <a:xfrm rot="0">
            <a:off x="13811967" y="4841629"/>
            <a:ext cx="3989556" cy="376740"/>
          </a:xfrm>
          <a:prstGeom prst="rect">
            <a:avLst/>
          </a:prstGeom>
        </p:spPr>
        <p:txBody>
          <a:bodyPr anchor="t" rtlCol="false" tIns="0" lIns="0" bIns="0" rIns="0">
            <a:spAutoFit/>
          </a:bodyPr>
          <a:lstStyle/>
          <a:p>
            <a:pPr algn="l" marL="0" indent="0" lvl="0">
              <a:lnSpc>
                <a:spcPts val="3083"/>
              </a:lnSpc>
              <a:spcBef>
                <a:spcPct val="0"/>
              </a:spcBef>
            </a:pPr>
            <a:r>
              <a:rPr lang="en-US" b="true" sz="2372" spc="-11">
                <a:solidFill>
                  <a:srgbClr val="5F0F15"/>
                </a:solidFill>
                <a:latin typeface="HK Grotesk Bold"/>
                <a:ea typeface="HK Grotesk Bold"/>
                <a:cs typeface="HK Grotesk Bold"/>
                <a:sym typeface="HK Grotesk Bold"/>
              </a:rPr>
              <a:t>Ticket Booking Screen</a:t>
            </a:r>
          </a:p>
        </p:txBody>
      </p:sp>
      <p:sp>
        <p:nvSpPr>
          <p:cNvPr name="TextBox 32" id="32"/>
          <p:cNvSpPr txBox="true"/>
          <p:nvPr/>
        </p:nvSpPr>
        <p:spPr>
          <a:xfrm rot="0">
            <a:off x="13334638" y="8409051"/>
            <a:ext cx="4466885" cy="376740"/>
          </a:xfrm>
          <a:prstGeom prst="rect">
            <a:avLst/>
          </a:prstGeom>
        </p:spPr>
        <p:txBody>
          <a:bodyPr anchor="t" rtlCol="false" tIns="0" lIns="0" bIns="0" rIns="0">
            <a:spAutoFit/>
          </a:bodyPr>
          <a:lstStyle/>
          <a:p>
            <a:pPr algn="l" marL="0" indent="0" lvl="0">
              <a:lnSpc>
                <a:spcPts val="3083"/>
              </a:lnSpc>
              <a:spcBef>
                <a:spcPct val="0"/>
              </a:spcBef>
            </a:pPr>
            <a:r>
              <a:rPr lang="en-US" b="true" sz="2372" spc="-11">
                <a:solidFill>
                  <a:srgbClr val="5F0F15"/>
                </a:solidFill>
                <a:latin typeface="HK Grotesk Bold"/>
                <a:ea typeface="HK Grotesk Bold"/>
                <a:cs typeface="HK Grotesk Bold"/>
                <a:sym typeface="HK Grotesk Bold"/>
              </a:rPr>
              <a:t>Admin Dashboard Screen</a:t>
            </a:r>
          </a:p>
        </p:txBody>
      </p:sp>
      <p:sp>
        <p:nvSpPr>
          <p:cNvPr name="TextBox 33" id="33"/>
          <p:cNvSpPr txBox="true"/>
          <p:nvPr/>
        </p:nvSpPr>
        <p:spPr>
          <a:xfrm rot="0">
            <a:off x="7464573" y="8409051"/>
            <a:ext cx="5784503" cy="376740"/>
          </a:xfrm>
          <a:prstGeom prst="rect">
            <a:avLst/>
          </a:prstGeom>
        </p:spPr>
        <p:txBody>
          <a:bodyPr anchor="t" rtlCol="false" tIns="0" lIns="0" bIns="0" rIns="0">
            <a:spAutoFit/>
          </a:bodyPr>
          <a:lstStyle/>
          <a:p>
            <a:pPr algn="l" marL="0" indent="0" lvl="0">
              <a:lnSpc>
                <a:spcPts val="3083"/>
              </a:lnSpc>
              <a:spcBef>
                <a:spcPct val="0"/>
              </a:spcBef>
            </a:pPr>
            <a:r>
              <a:rPr lang="en-US" b="true" sz="2372" spc="-11">
                <a:solidFill>
                  <a:srgbClr val="5F0F15"/>
                </a:solidFill>
                <a:latin typeface="HK Grotesk Bold"/>
                <a:ea typeface="HK Grotesk Bold"/>
                <a:cs typeface="HK Grotesk Bold"/>
                <a:sym typeface="HK Grotesk Bold"/>
              </a:rPr>
              <a:t>QR Code Ticket Screen</a:t>
            </a:r>
          </a:p>
        </p:txBody>
      </p:sp>
      <p:sp>
        <p:nvSpPr>
          <p:cNvPr name="TextBox 34" id="34"/>
          <p:cNvSpPr txBox="true"/>
          <p:nvPr/>
        </p:nvSpPr>
        <p:spPr>
          <a:xfrm rot="0">
            <a:off x="1591819" y="8409051"/>
            <a:ext cx="5784503" cy="376740"/>
          </a:xfrm>
          <a:prstGeom prst="rect">
            <a:avLst/>
          </a:prstGeom>
        </p:spPr>
        <p:txBody>
          <a:bodyPr anchor="t" rtlCol="false" tIns="0" lIns="0" bIns="0" rIns="0">
            <a:spAutoFit/>
          </a:bodyPr>
          <a:lstStyle/>
          <a:p>
            <a:pPr algn="l" marL="0" indent="0" lvl="0">
              <a:lnSpc>
                <a:spcPts val="3083"/>
              </a:lnSpc>
              <a:spcBef>
                <a:spcPct val="0"/>
              </a:spcBef>
            </a:pPr>
            <a:r>
              <a:rPr lang="en-US" b="true" sz="2372" spc="-11">
                <a:solidFill>
                  <a:srgbClr val="5F0F15"/>
                </a:solidFill>
                <a:latin typeface="HK Grotesk Bold"/>
                <a:ea typeface="HK Grotesk Bold"/>
                <a:cs typeface="HK Grotesk Bold"/>
                <a:sym typeface="HK Grotesk Bold"/>
              </a:rPr>
              <a:t>Payment Screen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11</a:t>
            </a:r>
          </a:p>
        </p:txBody>
      </p:sp>
      <p:sp>
        <p:nvSpPr>
          <p:cNvPr name="TextBox 3" id="3"/>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batch 09</a:t>
            </a:r>
          </a:p>
        </p:txBody>
      </p:sp>
      <p:sp>
        <p:nvSpPr>
          <p:cNvPr name="TextBox 4" id="4"/>
          <p:cNvSpPr txBox="true"/>
          <p:nvPr/>
        </p:nvSpPr>
        <p:spPr>
          <a:xfrm rot="0">
            <a:off x="5769090" y="1712595"/>
            <a:ext cx="5173527"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Enhance</a:t>
            </a:r>
            <a:r>
              <a:rPr lang="en-US" b="true" sz="2400" strike="noStrike" u="none">
                <a:solidFill>
                  <a:srgbClr val="8C7753"/>
                </a:solidFill>
                <a:latin typeface="Open Sauce Bold"/>
                <a:ea typeface="Open Sauce Bold"/>
                <a:cs typeface="Open Sauce Bold"/>
                <a:sym typeface="Open Sauce Bold"/>
              </a:rPr>
              <a:t>s user convenie</a:t>
            </a:r>
            <a:r>
              <a:rPr lang="en-US" b="true" sz="2400" strike="noStrike" u="none">
                <a:solidFill>
                  <a:srgbClr val="8C7753"/>
                </a:solidFill>
                <a:latin typeface="Open Sauce Bold"/>
                <a:ea typeface="Open Sauce Bold"/>
                <a:cs typeface="Open Sauce Bold"/>
                <a:sym typeface="Open Sauce Bold"/>
              </a:rPr>
              <a:t>nce</a:t>
            </a:r>
          </a:p>
        </p:txBody>
      </p:sp>
      <p:sp>
        <p:nvSpPr>
          <p:cNvPr name="TextBox 5" id="5"/>
          <p:cNvSpPr txBox="true"/>
          <p:nvPr/>
        </p:nvSpPr>
        <p:spPr>
          <a:xfrm rot="0">
            <a:off x="5769090" y="2164080"/>
            <a:ext cx="5606820" cy="1430655"/>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T</a:t>
            </a:r>
            <a:r>
              <a:rPr lang="en-US" sz="2400" strike="noStrike" u="none">
                <a:solidFill>
                  <a:srgbClr val="331B0D"/>
                </a:solidFill>
                <a:latin typeface="Open Sauce"/>
                <a:ea typeface="Open Sauce"/>
                <a:cs typeface="Open Sauce"/>
                <a:sym typeface="Open Sauce"/>
              </a:rPr>
              <a:t>he system allows users to access services anytime an</a:t>
            </a:r>
            <a:r>
              <a:rPr lang="en-US" sz="2400" strike="noStrike" u="none">
                <a:solidFill>
                  <a:srgbClr val="331B0D"/>
                </a:solidFill>
                <a:latin typeface="Open Sauce"/>
                <a:ea typeface="Open Sauce"/>
                <a:cs typeface="Open Sauce"/>
                <a:sym typeface="Open Sauce"/>
              </a:rPr>
              <a:t>d</a:t>
            </a:r>
            <a:r>
              <a:rPr lang="en-US" sz="2400" strike="noStrike" u="none">
                <a:solidFill>
                  <a:srgbClr val="331B0D"/>
                </a:solidFill>
                <a:latin typeface="Open Sauce"/>
                <a:ea typeface="Open Sauce"/>
                <a:cs typeface="Open Sauce"/>
                <a:sym typeface="Open Sauce"/>
              </a:rPr>
              <a:t> anywhere using internet-enabled devices.</a:t>
            </a:r>
          </a:p>
        </p:txBody>
      </p:sp>
      <p:sp>
        <p:nvSpPr>
          <p:cNvPr name="TextBox 6" id="6"/>
          <p:cNvSpPr txBox="true"/>
          <p:nvPr/>
        </p:nvSpPr>
        <p:spPr>
          <a:xfrm rot="0">
            <a:off x="11652480" y="1712595"/>
            <a:ext cx="5606820" cy="8248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Supports real-ti</a:t>
            </a:r>
            <a:r>
              <a:rPr lang="en-US" b="true" sz="2400" strike="noStrike" u="none">
                <a:solidFill>
                  <a:srgbClr val="8C7753"/>
                </a:solidFill>
                <a:latin typeface="Open Sauce Bold"/>
                <a:ea typeface="Open Sauce Bold"/>
                <a:cs typeface="Open Sauce Bold"/>
                <a:sym typeface="Open Sauce Bold"/>
              </a:rPr>
              <a:t>me data mana</a:t>
            </a:r>
            <a:r>
              <a:rPr lang="en-US" b="true" sz="2400" strike="noStrike" u="none">
                <a:solidFill>
                  <a:srgbClr val="8C7753"/>
                </a:solidFill>
                <a:latin typeface="Open Sauce Bold"/>
                <a:ea typeface="Open Sauce Bold"/>
                <a:cs typeface="Open Sauce Bold"/>
                <a:sym typeface="Open Sauce Bold"/>
              </a:rPr>
              <a:t>g</a:t>
            </a:r>
            <a:r>
              <a:rPr lang="en-US" b="true" sz="2400" strike="noStrike" u="none">
                <a:solidFill>
                  <a:srgbClr val="8C7753"/>
                </a:solidFill>
                <a:latin typeface="Open Sauce Bold"/>
                <a:ea typeface="Open Sauce Bold"/>
                <a:cs typeface="Open Sauce Bold"/>
                <a:sym typeface="Open Sauce Bold"/>
              </a:rPr>
              <a:t>ement</a:t>
            </a:r>
          </a:p>
        </p:txBody>
      </p:sp>
      <p:sp>
        <p:nvSpPr>
          <p:cNvPr name="TextBox 7" id="7"/>
          <p:cNvSpPr txBox="true"/>
          <p:nvPr/>
        </p:nvSpPr>
        <p:spPr>
          <a:xfrm rot="0">
            <a:off x="11652480" y="2569023"/>
            <a:ext cx="5606820" cy="1430655"/>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Real-time upd</a:t>
            </a:r>
            <a:r>
              <a:rPr lang="en-US" sz="2400" strike="noStrike" u="none">
                <a:solidFill>
                  <a:srgbClr val="331B0D"/>
                </a:solidFill>
                <a:latin typeface="Open Sauce"/>
                <a:ea typeface="Open Sauce"/>
                <a:cs typeface="Open Sauce"/>
                <a:sym typeface="Open Sauce"/>
              </a:rPr>
              <a:t>ates help both users and organizers track bookings, payments, and availabi</a:t>
            </a:r>
            <a:r>
              <a:rPr lang="en-US" sz="2400" strike="noStrike" u="none">
                <a:solidFill>
                  <a:srgbClr val="331B0D"/>
                </a:solidFill>
                <a:latin typeface="Open Sauce"/>
                <a:ea typeface="Open Sauce"/>
                <a:cs typeface="Open Sauce"/>
                <a:sym typeface="Open Sauce"/>
              </a:rPr>
              <a:t>l</a:t>
            </a:r>
            <a:r>
              <a:rPr lang="en-US" sz="2400" strike="noStrike" u="none">
                <a:solidFill>
                  <a:srgbClr val="331B0D"/>
                </a:solidFill>
                <a:latin typeface="Open Sauce"/>
                <a:ea typeface="Open Sauce"/>
                <a:cs typeface="Open Sauce"/>
                <a:sym typeface="Open Sauce"/>
              </a:rPr>
              <a:t>ity instantly.</a:t>
            </a:r>
          </a:p>
        </p:txBody>
      </p:sp>
      <p:sp>
        <p:nvSpPr>
          <p:cNvPr name="TextBox 8" id="8"/>
          <p:cNvSpPr txBox="true"/>
          <p:nvPr/>
        </p:nvSpPr>
        <p:spPr>
          <a:xfrm rot="0">
            <a:off x="5769090" y="416052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Re</a:t>
            </a:r>
            <a:r>
              <a:rPr lang="en-US" b="true" sz="2400" strike="noStrike" u="none">
                <a:solidFill>
                  <a:srgbClr val="8C7753"/>
                </a:solidFill>
                <a:latin typeface="Open Sauce Bold"/>
                <a:ea typeface="Open Sauce Bold"/>
                <a:cs typeface="Open Sauce Bold"/>
                <a:sym typeface="Open Sauce Bold"/>
              </a:rPr>
              <a:t>duces operational costs</a:t>
            </a:r>
          </a:p>
        </p:txBody>
      </p:sp>
      <p:sp>
        <p:nvSpPr>
          <p:cNvPr name="TextBox 9" id="9"/>
          <p:cNvSpPr txBox="true"/>
          <p:nvPr/>
        </p:nvSpPr>
        <p:spPr>
          <a:xfrm rot="0">
            <a:off x="5769090" y="4739640"/>
            <a:ext cx="5606820" cy="1430655"/>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utomation lowers operational expenses by reducing manpower, pa</a:t>
            </a:r>
            <a:r>
              <a:rPr lang="en-US" sz="2400" strike="noStrike" u="none">
                <a:solidFill>
                  <a:srgbClr val="331B0D"/>
                </a:solidFill>
                <a:latin typeface="Open Sauce"/>
                <a:ea typeface="Open Sauce"/>
                <a:cs typeface="Open Sauce"/>
                <a:sym typeface="Open Sauce"/>
              </a:rPr>
              <a:t>perw</a:t>
            </a:r>
            <a:r>
              <a:rPr lang="en-US" sz="2400" strike="noStrike" u="none">
                <a:solidFill>
                  <a:srgbClr val="331B0D"/>
                </a:solidFill>
                <a:latin typeface="Open Sauce"/>
                <a:ea typeface="Open Sauce"/>
                <a:cs typeface="Open Sauce"/>
                <a:sym typeface="Open Sauce"/>
              </a:rPr>
              <a:t>ork, and manual processing.</a:t>
            </a:r>
          </a:p>
        </p:txBody>
      </p:sp>
      <p:sp>
        <p:nvSpPr>
          <p:cNvPr name="TextBox 10" id="10"/>
          <p:cNvSpPr txBox="true"/>
          <p:nvPr/>
        </p:nvSpPr>
        <p:spPr>
          <a:xfrm rot="0">
            <a:off x="11652480" y="4160520"/>
            <a:ext cx="5312181" cy="8248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Improves data security and reliability</a:t>
            </a:r>
          </a:p>
        </p:txBody>
      </p:sp>
      <p:sp>
        <p:nvSpPr>
          <p:cNvPr name="TextBox 11" id="11"/>
          <p:cNvSpPr txBox="true"/>
          <p:nvPr/>
        </p:nvSpPr>
        <p:spPr>
          <a:xfrm rot="0">
            <a:off x="11652480" y="5013960"/>
            <a:ext cx="5606820" cy="1430655"/>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Digital </a:t>
            </a:r>
            <a:r>
              <a:rPr lang="en-US" sz="2400" strike="noStrike" u="none">
                <a:solidFill>
                  <a:srgbClr val="331B0D"/>
                </a:solidFill>
                <a:latin typeface="Open Sauce"/>
                <a:ea typeface="Open Sauce"/>
                <a:cs typeface="Open Sauce"/>
                <a:sym typeface="Open Sauce"/>
              </a:rPr>
              <a:t>storage ensures secure handling of user data and prevents data loss or duplication.</a:t>
            </a:r>
          </a:p>
        </p:txBody>
      </p:sp>
      <p:sp>
        <p:nvSpPr>
          <p:cNvPr name="TextBox 12" id="12"/>
          <p:cNvSpPr txBox="true"/>
          <p:nvPr/>
        </p:nvSpPr>
        <p:spPr>
          <a:xfrm rot="0">
            <a:off x="1028700" y="1123950"/>
            <a:ext cx="3436408"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Applications</a:t>
            </a:r>
          </a:p>
        </p:txBody>
      </p:sp>
      <p:sp>
        <p:nvSpPr>
          <p:cNvPr name="TextBox 13" id="13"/>
          <p:cNvSpPr txBox="true"/>
          <p:nvPr/>
        </p:nvSpPr>
        <p:spPr>
          <a:xfrm rot="0">
            <a:off x="5769090" y="6606540"/>
            <a:ext cx="560682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Sc</a:t>
            </a:r>
            <a:r>
              <a:rPr lang="en-US" b="true" sz="2400" strike="noStrike" u="none">
                <a:solidFill>
                  <a:srgbClr val="8C7753"/>
                </a:solidFill>
                <a:latin typeface="Open Sauce Bold"/>
                <a:ea typeface="Open Sauce Bold"/>
                <a:cs typeface="Open Sauce Bold"/>
                <a:sym typeface="Open Sauce Bold"/>
              </a:rPr>
              <a:t>alable and flexible system</a:t>
            </a:r>
          </a:p>
        </p:txBody>
      </p:sp>
      <p:sp>
        <p:nvSpPr>
          <p:cNvPr name="TextBox 14" id="14"/>
          <p:cNvSpPr txBox="true"/>
          <p:nvPr/>
        </p:nvSpPr>
        <p:spPr>
          <a:xfrm rot="0">
            <a:off x="5788140" y="7185660"/>
            <a:ext cx="5606820" cy="2402205"/>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The application can handle an in</a:t>
            </a:r>
            <a:r>
              <a:rPr lang="en-US" sz="2400" strike="noStrike" u="none">
                <a:solidFill>
                  <a:srgbClr val="331B0D"/>
                </a:solidFill>
                <a:latin typeface="Open Sauce"/>
                <a:ea typeface="Open Sauce"/>
                <a:cs typeface="Open Sauce"/>
                <a:sym typeface="Open Sauce"/>
              </a:rPr>
              <a:t>creasing number of users and can be easily updated with new features.</a:t>
            </a:r>
          </a:p>
          <a:p>
            <a:pPr algn="l" marL="0" indent="0" lvl="0">
              <a:lnSpc>
                <a:spcPts val="3840"/>
              </a:lnSpc>
              <a:spcBef>
                <a:spcPct val="0"/>
              </a:spcBef>
            </a:pPr>
          </a:p>
          <a:p>
            <a:pPr algn="l" marL="0" indent="0" lvl="0">
              <a:lnSpc>
                <a:spcPts val="3840"/>
              </a:lnSpc>
              <a:spcBef>
                <a:spcPct val="0"/>
              </a:spcBef>
            </a:pPr>
          </a:p>
        </p:txBody>
      </p:sp>
      <p:sp>
        <p:nvSpPr>
          <p:cNvPr name="TextBox 15" id="15"/>
          <p:cNvSpPr txBox="true"/>
          <p:nvPr/>
        </p:nvSpPr>
        <p:spPr>
          <a:xfrm rot="0">
            <a:off x="11652480" y="6606540"/>
            <a:ext cx="4861556" cy="8248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Improves overall system transparency</a:t>
            </a:r>
          </a:p>
        </p:txBody>
      </p:sp>
      <p:sp>
        <p:nvSpPr>
          <p:cNvPr name="TextBox 16" id="16"/>
          <p:cNvSpPr txBox="true"/>
          <p:nvPr/>
        </p:nvSpPr>
        <p:spPr>
          <a:xfrm rot="0">
            <a:off x="11652480" y="7428548"/>
            <a:ext cx="6004470" cy="1916430"/>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Clear tr</a:t>
            </a:r>
            <a:r>
              <a:rPr lang="en-US" sz="2400" strike="noStrike" u="none">
                <a:solidFill>
                  <a:srgbClr val="331B0D"/>
                </a:solidFill>
                <a:latin typeface="Open Sauce"/>
                <a:ea typeface="Open Sauce"/>
                <a:cs typeface="Open Sauce"/>
                <a:sym typeface="Open Sauce"/>
              </a:rPr>
              <a:t>ansaction records and status updates improve trus</a:t>
            </a:r>
            <a:r>
              <a:rPr lang="en-US" sz="2400" strike="noStrike" u="none">
                <a:solidFill>
                  <a:srgbClr val="331B0D"/>
                </a:solidFill>
                <a:latin typeface="Open Sauce"/>
                <a:ea typeface="Open Sauce"/>
                <a:cs typeface="Open Sauce"/>
                <a:sym typeface="Open Sauce"/>
              </a:rPr>
              <a:t>t</a:t>
            </a:r>
            <a:r>
              <a:rPr lang="en-US" sz="2400" strike="noStrike" u="none">
                <a:solidFill>
                  <a:srgbClr val="331B0D"/>
                </a:solidFill>
                <a:latin typeface="Open Sauce"/>
                <a:ea typeface="Open Sauce"/>
                <a:cs typeface="Open Sauce"/>
                <a:sym typeface="Open Sauce"/>
              </a:rPr>
              <a:t> and transparency between users and organizers.</a:t>
            </a:r>
          </a:p>
          <a:p>
            <a:pPr algn="l" marL="0" indent="0" lvl="0">
              <a:lnSpc>
                <a:spcPts val="3840"/>
              </a:lnSpc>
              <a:spcBef>
                <a:spcPct val="0"/>
              </a:spcBef>
            </a:pPr>
          </a:p>
        </p:txBody>
      </p:sp>
      <p:sp>
        <p:nvSpPr>
          <p:cNvPr name="Freeform 17" id="17"/>
          <p:cNvSpPr/>
          <p:nvPr/>
        </p:nvSpPr>
        <p:spPr>
          <a:xfrm flipH="false" flipV="false" rot="0">
            <a:off x="1498957" y="2797016"/>
            <a:ext cx="2495894" cy="5411153"/>
          </a:xfrm>
          <a:custGeom>
            <a:avLst/>
            <a:gdLst/>
            <a:ahLst/>
            <a:cxnLst/>
            <a:rect r="r" b="b" t="t" l="l"/>
            <a:pathLst>
              <a:path h="5411153" w="2495894">
                <a:moveTo>
                  <a:pt x="0" y="0"/>
                </a:moveTo>
                <a:lnTo>
                  <a:pt x="2495894" y="0"/>
                </a:lnTo>
                <a:lnTo>
                  <a:pt x="2495894" y="5411153"/>
                </a:lnTo>
                <a:lnTo>
                  <a:pt x="0" y="5411153"/>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123950"/>
            <a:ext cx="8115300"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Conclusion</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12</a:t>
            </a:r>
          </a:p>
        </p:txBody>
      </p:sp>
      <p:sp>
        <p:nvSpPr>
          <p:cNvPr name="TextBox 4" id="4"/>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batch 09</a:t>
            </a:r>
          </a:p>
        </p:txBody>
      </p:sp>
      <p:grpSp>
        <p:nvGrpSpPr>
          <p:cNvPr name="Group 5" id="5"/>
          <p:cNvGrpSpPr/>
          <p:nvPr/>
        </p:nvGrpSpPr>
        <p:grpSpPr>
          <a:xfrm rot="0">
            <a:off x="0" y="2253349"/>
            <a:ext cx="6817607" cy="1543050"/>
            <a:chOff x="0" y="0"/>
            <a:chExt cx="1795584" cy="406400"/>
          </a:xfrm>
        </p:grpSpPr>
        <p:sp>
          <p:nvSpPr>
            <p:cNvPr name="Freeform 6" id="6"/>
            <p:cNvSpPr/>
            <p:nvPr/>
          </p:nvSpPr>
          <p:spPr>
            <a:xfrm flipH="false" flipV="false" rot="0">
              <a:off x="0" y="0"/>
              <a:ext cx="1795584" cy="406400"/>
            </a:xfrm>
            <a:custGeom>
              <a:avLst/>
              <a:gdLst/>
              <a:ahLst/>
              <a:cxnLst/>
              <a:rect r="r" b="b" t="t" l="l"/>
              <a:pathLst>
                <a:path h="406400" w="1795584">
                  <a:moveTo>
                    <a:pt x="1592384" y="0"/>
                  </a:moveTo>
                  <a:lnTo>
                    <a:pt x="0" y="0"/>
                  </a:lnTo>
                  <a:lnTo>
                    <a:pt x="0" y="406400"/>
                  </a:lnTo>
                  <a:lnTo>
                    <a:pt x="1592384" y="406400"/>
                  </a:lnTo>
                  <a:lnTo>
                    <a:pt x="1795584" y="203200"/>
                  </a:lnTo>
                  <a:lnTo>
                    <a:pt x="1592384" y="0"/>
                  </a:lnTo>
                  <a:close/>
                </a:path>
              </a:pathLst>
            </a:custGeom>
            <a:solidFill>
              <a:srgbClr val="8C7753"/>
            </a:solidFill>
          </p:spPr>
        </p:sp>
        <p:sp>
          <p:nvSpPr>
            <p:cNvPr name="TextBox 7" id="7"/>
            <p:cNvSpPr txBox="true"/>
            <p:nvPr/>
          </p:nvSpPr>
          <p:spPr>
            <a:xfrm>
              <a:off x="0" y="-47625"/>
              <a:ext cx="1681284" cy="454025"/>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6074871" y="2253349"/>
            <a:ext cx="7010460" cy="1543050"/>
            <a:chOff x="0" y="0"/>
            <a:chExt cx="1846376" cy="406400"/>
          </a:xfrm>
        </p:grpSpPr>
        <p:sp>
          <p:nvSpPr>
            <p:cNvPr name="Freeform 9" id="9"/>
            <p:cNvSpPr/>
            <p:nvPr/>
          </p:nvSpPr>
          <p:spPr>
            <a:xfrm flipH="false" flipV="false" rot="0">
              <a:off x="0" y="0"/>
              <a:ext cx="1846376" cy="406400"/>
            </a:xfrm>
            <a:custGeom>
              <a:avLst/>
              <a:gdLst/>
              <a:ahLst/>
              <a:cxnLst/>
              <a:rect r="r" b="b" t="t" l="l"/>
              <a:pathLst>
                <a:path h="406400" w="1846376">
                  <a:moveTo>
                    <a:pt x="0" y="0"/>
                  </a:moveTo>
                  <a:lnTo>
                    <a:pt x="1643176" y="0"/>
                  </a:lnTo>
                  <a:lnTo>
                    <a:pt x="1846376" y="203200"/>
                  </a:lnTo>
                  <a:lnTo>
                    <a:pt x="1643176" y="406400"/>
                  </a:lnTo>
                  <a:lnTo>
                    <a:pt x="0" y="406400"/>
                  </a:lnTo>
                  <a:lnTo>
                    <a:pt x="203200" y="203200"/>
                  </a:lnTo>
                  <a:lnTo>
                    <a:pt x="0" y="0"/>
                  </a:lnTo>
                  <a:close/>
                </a:path>
              </a:pathLst>
            </a:custGeom>
            <a:solidFill>
              <a:srgbClr val="8C7753">
                <a:alpha val="80000"/>
              </a:srgbClr>
            </a:solidFill>
          </p:spPr>
        </p:sp>
        <p:sp>
          <p:nvSpPr>
            <p:cNvPr name="TextBox 10" id="10"/>
            <p:cNvSpPr txBox="true"/>
            <p:nvPr/>
          </p:nvSpPr>
          <p:spPr>
            <a:xfrm>
              <a:off x="177800" y="-47625"/>
              <a:ext cx="1592376" cy="454025"/>
            </a:xfrm>
            <a:prstGeom prst="rect">
              <a:avLst/>
            </a:prstGeom>
          </p:spPr>
          <p:txBody>
            <a:bodyPr anchor="ctr" rtlCol="false" tIns="50800" lIns="50800" bIns="50800" rIns="50800"/>
            <a:lstStyle/>
            <a:p>
              <a:pPr algn="ctr">
                <a:lnSpc>
                  <a:spcPts val="2940"/>
                </a:lnSpc>
              </a:pPr>
            </a:p>
          </p:txBody>
        </p:sp>
      </p:grpSp>
      <p:grpSp>
        <p:nvGrpSpPr>
          <p:cNvPr name="Group 11" id="11"/>
          <p:cNvGrpSpPr/>
          <p:nvPr/>
        </p:nvGrpSpPr>
        <p:grpSpPr>
          <a:xfrm rot="0">
            <a:off x="12350677" y="2253349"/>
            <a:ext cx="5937323" cy="1543050"/>
            <a:chOff x="0" y="0"/>
            <a:chExt cx="1563739" cy="406400"/>
          </a:xfrm>
        </p:grpSpPr>
        <p:sp>
          <p:nvSpPr>
            <p:cNvPr name="Freeform 12" id="12"/>
            <p:cNvSpPr/>
            <p:nvPr/>
          </p:nvSpPr>
          <p:spPr>
            <a:xfrm flipH="false" flipV="false" rot="0">
              <a:off x="0" y="0"/>
              <a:ext cx="1563739" cy="406400"/>
            </a:xfrm>
            <a:custGeom>
              <a:avLst/>
              <a:gdLst/>
              <a:ahLst/>
              <a:cxnLst/>
              <a:rect r="r" b="b" t="t" l="l"/>
              <a:pathLst>
                <a:path h="406400" w="1563739">
                  <a:moveTo>
                    <a:pt x="0" y="0"/>
                  </a:moveTo>
                  <a:lnTo>
                    <a:pt x="1360539" y="0"/>
                  </a:lnTo>
                  <a:lnTo>
                    <a:pt x="1563739" y="203200"/>
                  </a:lnTo>
                  <a:lnTo>
                    <a:pt x="1360539" y="406400"/>
                  </a:lnTo>
                  <a:lnTo>
                    <a:pt x="0" y="406400"/>
                  </a:lnTo>
                  <a:lnTo>
                    <a:pt x="203200" y="203200"/>
                  </a:lnTo>
                  <a:lnTo>
                    <a:pt x="0" y="0"/>
                  </a:lnTo>
                  <a:close/>
                </a:path>
              </a:pathLst>
            </a:custGeom>
            <a:solidFill>
              <a:srgbClr val="8C7753">
                <a:alpha val="60000"/>
              </a:srgbClr>
            </a:solidFill>
          </p:spPr>
        </p:sp>
        <p:sp>
          <p:nvSpPr>
            <p:cNvPr name="TextBox 13" id="13"/>
            <p:cNvSpPr txBox="true"/>
            <p:nvPr/>
          </p:nvSpPr>
          <p:spPr>
            <a:xfrm>
              <a:off x="177800" y="-47625"/>
              <a:ext cx="1309739" cy="454025"/>
            </a:xfrm>
            <a:prstGeom prst="rect">
              <a:avLst/>
            </a:prstGeom>
          </p:spPr>
          <p:txBody>
            <a:bodyPr anchor="ctr" rtlCol="false" tIns="50800" lIns="50800" bIns="50800" rIns="50800"/>
            <a:lstStyle/>
            <a:p>
              <a:pPr algn="ctr">
                <a:lnSpc>
                  <a:spcPts val="2940"/>
                </a:lnSpc>
              </a:pPr>
            </a:p>
          </p:txBody>
        </p:sp>
      </p:grpSp>
      <p:sp>
        <p:nvSpPr>
          <p:cNvPr name="TextBox 14" id="14"/>
          <p:cNvSpPr txBox="true"/>
          <p:nvPr/>
        </p:nvSpPr>
        <p:spPr>
          <a:xfrm rot="0">
            <a:off x="2131437" y="2801993"/>
            <a:ext cx="2112167" cy="365760"/>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Effic</a:t>
            </a:r>
            <a:r>
              <a:rPr lang="en-US" sz="2100">
                <a:solidFill>
                  <a:srgbClr val="FFFFFF"/>
                </a:solidFill>
                <a:latin typeface="Open Sauce"/>
                <a:ea typeface="Open Sauce"/>
                <a:cs typeface="Open Sauce"/>
                <a:sym typeface="Open Sauce"/>
              </a:rPr>
              <a:t>ient system</a:t>
            </a:r>
          </a:p>
        </p:txBody>
      </p:sp>
      <p:sp>
        <p:nvSpPr>
          <p:cNvPr name="TextBox 15" id="15"/>
          <p:cNvSpPr txBox="true"/>
          <p:nvPr/>
        </p:nvSpPr>
        <p:spPr>
          <a:xfrm rot="0">
            <a:off x="8262183" y="2818181"/>
            <a:ext cx="2635835" cy="365760"/>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uce"/>
                <a:ea typeface="Open Sauce"/>
                <a:cs typeface="Open Sauce"/>
                <a:sym typeface="Open Sauce"/>
              </a:rPr>
              <a:t>Secu</a:t>
            </a:r>
            <a:r>
              <a:rPr lang="en-US" sz="2100">
                <a:solidFill>
                  <a:srgbClr val="FFFFFF"/>
                </a:solidFill>
                <a:latin typeface="Open Sauce"/>
                <a:ea typeface="Open Sauce"/>
                <a:cs typeface="Open Sauce"/>
                <a:sym typeface="Open Sauce"/>
              </a:rPr>
              <a:t>re and reliable</a:t>
            </a:r>
          </a:p>
        </p:txBody>
      </p:sp>
      <p:sp>
        <p:nvSpPr>
          <p:cNvPr name="TextBox 16" id="16"/>
          <p:cNvSpPr txBox="true"/>
          <p:nvPr/>
        </p:nvSpPr>
        <p:spPr>
          <a:xfrm rot="0">
            <a:off x="13752804" y="2818181"/>
            <a:ext cx="3133068" cy="36576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Easy</a:t>
            </a:r>
            <a:r>
              <a:rPr lang="en-US" sz="2100">
                <a:solidFill>
                  <a:srgbClr val="331B0D"/>
                </a:solidFill>
                <a:latin typeface="Open Sauce"/>
                <a:ea typeface="Open Sauce"/>
                <a:cs typeface="Open Sauce"/>
                <a:sym typeface="Open Sauce"/>
              </a:rPr>
              <a:t> to manage events</a:t>
            </a:r>
          </a:p>
        </p:txBody>
      </p:sp>
      <p:sp>
        <p:nvSpPr>
          <p:cNvPr name="TextBox 17" id="17"/>
          <p:cNvSpPr txBox="true"/>
          <p:nvPr/>
        </p:nvSpPr>
        <p:spPr>
          <a:xfrm rot="0">
            <a:off x="1230934" y="4808146"/>
            <a:ext cx="4355740" cy="40805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The system works efficien</a:t>
            </a:r>
            <a:r>
              <a:rPr lang="en-US" sz="2100">
                <a:solidFill>
                  <a:srgbClr val="331B0D"/>
                </a:solidFill>
                <a:latin typeface="Open Sauce"/>
                <a:ea typeface="Open Sauce"/>
                <a:cs typeface="Open Sauce"/>
                <a:sym typeface="Open Sauce"/>
              </a:rPr>
              <a:t>tly by automating event ticket booking, payment processing, and QR code validation. It reduces manual intervention, speeds up operations, handles multiple users simultaneously, and ensures smooth performance even during high demand, improving overall system productivity.</a:t>
            </a:r>
          </a:p>
        </p:txBody>
      </p:sp>
      <p:sp>
        <p:nvSpPr>
          <p:cNvPr name="TextBox 18" id="18"/>
          <p:cNvSpPr txBox="true"/>
          <p:nvPr/>
        </p:nvSpPr>
        <p:spPr>
          <a:xfrm rot="0">
            <a:off x="6966130" y="4808146"/>
            <a:ext cx="4355740" cy="40805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The system is secure and reliable</a:t>
            </a:r>
            <a:r>
              <a:rPr lang="en-US" sz="2100">
                <a:solidFill>
                  <a:srgbClr val="331B0D"/>
                </a:solidFill>
                <a:latin typeface="Open Sauce"/>
                <a:ea typeface="Open Sauce"/>
                <a:cs typeface="Open Sauce"/>
                <a:sym typeface="Open Sauce"/>
              </a:rPr>
              <a:t> by implementing user authentication, secure online payment gateways, and QR code–based ticket verification. It protects user data, prevents unauthorized access, avoids duplicate ticket usage, and ensures consistent system performance without data loss or errors.</a:t>
            </a:r>
          </a:p>
        </p:txBody>
      </p:sp>
      <p:sp>
        <p:nvSpPr>
          <p:cNvPr name="TextBox 19" id="19"/>
          <p:cNvSpPr txBox="true"/>
          <p:nvPr/>
        </p:nvSpPr>
        <p:spPr>
          <a:xfrm rot="0">
            <a:off x="12922610" y="4776116"/>
            <a:ext cx="4355740" cy="40805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The</a:t>
            </a:r>
            <a:r>
              <a:rPr lang="en-US" sz="2100">
                <a:solidFill>
                  <a:srgbClr val="331B0D"/>
                </a:solidFill>
                <a:latin typeface="Open Sauce"/>
                <a:ea typeface="Open Sauce"/>
                <a:cs typeface="Open Sauce"/>
                <a:sym typeface="Open Sauce"/>
              </a:rPr>
              <a:t> system allows administrators to easily create, update, and manage events using a centralized dashboard. It simplifies tracking bookings, monitoring payments, handling refunds, and managing attendee entry, reducing operational complexity and making event management more organized and efficient.</a:t>
            </a:r>
          </a:p>
        </p:txBody>
      </p:sp>
      <p:sp>
        <p:nvSpPr>
          <p:cNvPr name="AutoShape 20" id="20"/>
          <p:cNvSpPr/>
          <p:nvPr/>
        </p:nvSpPr>
        <p:spPr>
          <a:xfrm>
            <a:off x="3187520" y="3796399"/>
            <a:ext cx="0" cy="861252"/>
          </a:xfrm>
          <a:prstGeom prst="line">
            <a:avLst/>
          </a:prstGeom>
          <a:ln cap="flat" w="38100">
            <a:solidFill>
              <a:srgbClr val="8C7753"/>
            </a:solidFill>
            <a:prstDash val="solid"/>
            <a:headEnd type="none" len="sm" w="sm"/>
            <a:tailEnd type="arrow" len="sm" w="med"/>
          </a:ln>
        </p:spPr>
      </p:sp>
      <p:sp>
        <p:nvSpPr>
          <p:cNvPr name="AutoShape 21" id="21"/>
          <p:cNvSpPr/>
          <p:nvPr/>
        </p:nvSpPr>
        <p:spPr>
          <a:xfrm>
            <a:off x="9144000" y="3796399"/>
            <a:ext cx="0" cy="861252"/>
          </a:xfrm>
          <a:prstGeom prst="line">
            <a:avLst/>
          </a:prstGeom>
          <a:ln cap="flat" w="38100">
            <a:solidFill>
              <a:srgbClr val="8C7753">
                <a:alpha val="69804"/>
              </a:srgbClr>
            </a:solidFill>
            <a:prstDash val="solid"/>
            <a:headEnd type="none" len="sm" w="sm"/>
            <a:tailEnd type="arrow" len="sm" w="med"/>
          </a:ln>
        </p:spPr>
      </p:sp>
      <p:sp>
        <p:nvSpPr>
          <p:cNvPr name="AutoShape 22" id="22"/>
          <p:cNvSpPr/>
          <p:nvPr/>
        </p:nvSpPr>
        <p:spPr>
          <a:xfrm>
            <a:off x="15100480" y="3796399"/>
            <a:ext cx="0" cy="861252"/>
          </a:xfrm>
          <a:prstGeom prst="line">
            <a:avLst/>
          </a:prstGeom>
          <a:ln cap="flat" w="38100">
            <a:solidFill>
              <a:srgbClr val="8C7753">
                <a:alpha val="40000"/>
              </a:srgbClr>
            </a:solidFill>
            <a:prstDash val="solid"/>
            <a:headEnd type="none" len="sm" w="sm"/>
            <a:tailEnd type="arrow" len="sm" w="med"/>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028700" y="3304563"/>
            <a:ext cx="16230600" cy="3782648"/>
          </a:xfrm>
          <a:prstGeom prst="rect">
            <a:avLst/>
          </a:prstGeom>
        </p:spPr>
        <p:txBody>
          <a:bodyPr anchor="t" rtlCol="false" tIns="0" lIns="0" bIns="0" rIns="0">
            <a:spAutoFit/>
          </a:bodyPr>
          <a:lstStyle/>
          <a:p>
            <a:pPr algn="ctr">
              <a:lnSpc>
                <a:spcPts val="14834"/>
              </a:lnSpc>
            </a:pPr>
            <a:r>
              <a:rPr lang="en-US" b="true" sz="13245" spc="344">
                <a:solidFill>
                  <a:srgbClr val="331B0D"/>
                </a:solidFill>
                <a:latin typeface="Open Sauce Bold"/>
                <a:ea typeface="Open Sauce Bold"/>
                <a:cs typeface="Open Sauce Bold"/>
                <a:sym typeface="Open Sauce Bold"/>
              </a:rPr>
              <a:t>THANK </a:t>
            </a:r>
          </a:p>
          <a:p>
            <a:pPr algn="ctr">
              <a:lnSpc>
                <a:spcPts val="14834"/>
              </a:lnSpc>
            </a:pPr>
            <a:r>
              <a:rPr lang="en-US" b="true" sz="13245" spc="344">
                <a:solidFill>
                  <a:srgbClr val="331B0D"/>
                </a:solidFill>
                <a:latin typeface="Open Sauce Bold"/>
                <a:ea typeface="Open Sauce Bold"/>
                <a:cs typeface="Open Sauce Bold"/>
                <a:sym typeface="Open Sauce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DAG-2Z-O7pE</dc:identifier>
  <dcterms:modified xsi:type="dcterms:W3CDTF">2011-08-01T06:04:30Z</dcterms:modified>
  <cp:revision>1</cp:revision>
  <dc:title>White Beige and Brown Simple Minimalist Clean Final Project Presentation</dc:title>
</cp:coreProperties>
</file>